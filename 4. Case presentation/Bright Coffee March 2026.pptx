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3.xml" ContentType="application/vnd.openxmlformats-officedocument.themeOverride+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4.xml" ContentType="application/vnd.openxmlformats-officedocument.themeOverr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563" r:id="rId5"/>
    <p:sldId id="2565" r:id="rId6"/>
    <p:sldId id="2567" r:id="rId7"/>
    <p:sldId id="2568" r:id="rId8"/>
    <p:sldId id="2572" r:id="rId9"/>
    <p:sldId id="2571" r:id="rId10"/>
    <p:sldId id="2570" r:id="rId11"/>
    <p:sldId id="2569" r:id="rId12"/>
    <p:sldId id="25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ffee-Themed Presentation Template" id="{EB6D83E7-0D88-47FA-BCD3-1EDBA0D59681}">
          <p14:sldIdLst/>
        </p14:section>
        <p14:section name="Coffee Theme Template Structure" id="{4082DEF9-B33B-40A4-97F4-916B24655B0C}">
          <p14:sldIdLst>
            <p14:sldId id="2563"/>
            <p14:sldId id="2565"/>
            <p14:sldId id="2567"/>
            <p14:sldId id="2568"/>
            <p14:sldId id="2572"/>
            <p14:sldId id="2571"/>
            <p14:sldId id="2570"/>
            <p14:sldId id="2569"/>
            <p14:sldId id="256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2F85B9-ABDB-4C5B-8FFB-87F7850AD45B}" v="17" dt="2026-03-29T16:44:49.7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90" d="100"/>
          <a:sy n="90" d="100"/>
        </p:scale>
        <p:origin x="398" y="67"/>
      </p:cViewPr>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metsi Khotlele" userId="ba5636ae-54db-46e7-8841-7cf835d82e2d" providerId="ADAL" clId="{6D838E9D-1C44-4D75-8477-50F960722861}"/>
    <pc:docChg chg="modSld">
      <pc:chgData name="Kometsi Khotlele" userId="ba5636ae-54db-46e7-8841-7cf835d82e2d" providerId="ADAL" clId="{6D838E9D-1C44-4D75-8477-50F960722861}" dt="2026-03-29T16:45:06.144" v="261" actId="404"/>
      <pc:docMkLst>
        <pc:docMk/>
      </pc:docMkLst>
      <pc:sldChg chg="addSp modSp mod">
        <pc:chgData name="Kometsi Khotlele" userId="ba5636ae-54db-46e7-8841-7cf835d82e2d" providerId="ADAL" clId="{6D838E9D-1C44-4D75-8477-50F960722861}" dt="2026-03-29T16:45:06.144" v="261" actId="404"/>
        <pc:sldMkLst>
          <pc:docMk/>
          <pc:sldMk cId="710229453" sldId="2570"/>
        </pc:sldMkLst>
        <pc:spChg chg="mod">
          <ac:chgData name="Kometsi Khotlele" userId="ba5636ae-54db-46e7-8841-7cf835d82e2d" providerId="ADAL" clId="{6D838E9D-1C44-4D75-8477-50F960722861}" dt="2026-03-29T16:45:06.144" v="261" actId="404"/>
          <ac:spMkLst>
            <pc:docMk/>
            <pc:sldMk cId="710229453" sldId="2570"/>
            <ac:spMk id="7" creationId="{682FEC47-701D-874B-141F-CAE187173217}"/>
          </ac:spMkLst>
        </pc:spChg>
        <pc:graphicFrameChg chg="add mod">
          <ac:chgData name="Kometsi Khotlele" userId="ba5636ae-54db-46e7-8841-7cf835d82e2d" providerId="ADAL" clId="{6D838E9D-1C44-4D75-8477-50F960722861}" dt="2026-03-29T16:44:56.451" v="259" actId="14100"/>
          <ac:graphicFrameMkLst>
            <pc:docMk/>
            <pc:sldMk cId="710229453" sldId="2570"/>
            <ac:graphicFrameMk id="3" creationId="{36F2C3D1-57D7-5509-190F-C9AD49A7A372}"/>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zakes.khotlele\Downloads\Sunday_Analysis.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zakes.khotlele\Downloads\Sunday_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C:\Users\zakes.khotlele\Downloads\Sunday_Analysis.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https://proconicsza-my.sharepoint.com/personal/kometsi_khotlele_progo_co_za/Documents/Desktop/Final%20Querry%2028%20March%202026.xlsx" TargetMode="Externa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C:\Users\zakes.khotlele\Downloads\Sunday_Analysi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[Sunday_Analysis.xlsx]Weekly Day Classification!PivotTable7</c:name>
    <c:fmtId val="5"/>
  </c:pivotSource>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en-US" sz="1800" b="1" dirty="0"/>
              <a:t>Performance</a:t>
            </a:r>
            <a:r>
              <a:rPr lang="en-US" sz="1800" b="1" baseline="0" dirty="0"/>
              <a:t> by Day Classification</a:t>
            </a:r>
            <a:endParaRPr lang="en-US" sz="1800" b="1" dirty="0"/>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pivotFmt>
      <c:pivotFmt>
        <c:idx val="9"/>
        <c:spPr>
          <a:solidFill>
            <a:schemeClr val="accent2"/>
          </a:solidFill>
          <a:ln>
            <a:noFill/>
          </a:ln>
          <a:effectLst/>
        </c:spPr>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1"/>
        <c:spPr>
          <a:solidFill>
            <a:schemeClr val="accent1"/>
          </a:solidFill>
          <a:ln>
            <a:noFill/>
          </a:ln>
          <a:effectLst/>
        </c:spPr>
      </c:pivotFmt>
      <c:pivotFmt>
        <c:idx val="12"/>
        <c:spPr>
          <a:solidFill>
            <a:schemeClr val="accent1"/>
          </a:solidFill>
          <a:ln>
            <a:noFill/>
          </a:ln>
          <a:effectLst/>
        </c:spPr>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pivotFmt>
      <c:pivotFmt>
        <c:idx val="15"/>
        <c:spPr>
          <a:solidFill>
            <a:schemeClr val="accent1"/>
          </a:solidFill>
          <a:ln>
            <a:noFill/>
          </a:ln>
          <a:effectLst/>
        </c:spPr>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7"/>
        <c:spPr>
          <a:solidFill>
            <a:schemeClr val="accent1"/>
          </a:solidFill>
          <a:ln>
            <a:noFill/>
          </a:ln>
          <a:effectLst/>
        </c:spPr>
      </c:pivotFmt>
      <c:pivotFmt>
        <c:idx val="18"/>
        <c:spPr>
          <a:solidFill>
            <a:schemeClr val="accent1"/>
          </a:solidFill>
          <a:ln>
            <a:noFill/>
          </a:ln>
          <a:effectLst/>
        </c:spPr>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pivotFmt>
      <c:pivotFmt>
        <c:idx val="21"/>
        <c:spPr>
          <a:solidFill>
            <a:schemeClr val="accent1"/>
          </a:solidFill>
          <a:ln>
            <a:noFill/>
          </a:ln>
          <a:effectLst/>
        </c:spPr>
      </c:pivotFmt>
    </c:pivotFmts>
    <c:plotArea>
      <c:layout/>
      <c:pieChart>
        <c:varyColors val="1"/>
        <c:ser>
          <c:idx val="0"/>
          <c:order val="0"/>
          <c:tx>
            <c:strRef>
              <c:f>'Weekly Day Classification'!$B$3</c:f>
              <c:strCache>
                <c:ptCount val="1"/>
                <c:pt idx="0">
                  <c:v>Sum of Sales_Count</c:v>
                </c:pt>
              </c:strCache>
            </c:strRef>
          </c:tx>
          <c:dPt>
            <c:idx val="0"/>
            <c:bubble3D val="0"/>
            <c:spPr>
              <a:solidFill>
                <a:schemeClr val="accent1"/>
              </a:solidFill>
              <a:ln>
                <a:noFill/>
              </a:ln>
              <a:effectLst/>
            </c:spPr>
            <c:extLst>
              <c:ext xmlns:c16="http://schemas.microsoft.com/office/drawing/2014/chart" uri="{C3380CC4-5D6E-409C-BE32-E72D297353CC}">
                <c16:uniqueId val="{00000001-F2F9-4F3A-8B50-EE3D4E602272}"/>
              </c:ext>
            </c:extLst>
          </c:dPt>
          <c:dPt>
            <c:idx val="1"/>
            <c:bubble3D val="0"/>
            <c:spPr>
              <a:solidFill>
                <a:schemeClr val="accent2"/>
              </a:solidFill>
              <a:ln>
                <a:noFill/>
              </a:ln>
              <a:effectLst/>
            </c:spPr>
            <c:extLst>
              <c:ext xmlns:c16="http://schemas.microsoft.com/office/drawing/2014/chart" uri="{C3380CC4-5D6E-409C-BE32-E72D297353CC}">
                <c16:uniqueId val="{00000003-F2F9-4F3A-8B50-EE3D4E602272}"/>
              </c:ext>
            </c:extLst>
          </c:dPt>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'Weekly Day Classification'!$A$4:$A$6</c:f>
              <c:strCache>
                <c:ptCount val="2"/>
                <c:pt idx="0">
                  <c:v>Weekday</c:v>
                </c:pt>
                <c:pt idx="1">
                  <c:v>Weekend</c:v>
                </c:pt>
              </c:strCache>
            </c:strRef>
          </c:cat>
          <c:val>
            <c:numRef>
              <c:f>'Weekly Day Classification'!$B$4:$B$6</c:f>
              <c:numCache>
                <c:formatCode>General</c:formatCode>
                <c:ptCount val="2"/>
                <c:pt idx="0">
                  <c:v>107510</c:v>
                </c:pt>
                <c:pt idx="1">
                  <c:v>41606</c:v>
                </c:pt>
              </c:numCache>
            </c:numRef>
          </c:val>
          <c:extLst>
            <c:ext xmlns:c16="http://schemas.microsoft.com/office/drawing/2014/chart" uri="{C3380CC4-5D6E-409C-BE32-E72D297353CC}">
              <c16:uniqueId val="{00000004-F2F9-4F3A-8B50-EE3D4E602272}"/>
            </c:ext>
          </c:extLst>
        </c:ser>
        <c:ser>
          <c:idx val="1"/>
          <c:order val="1"/>
          <c:tx>
            <c:strRef>
              <c:f>'Weekly Day Classification'!$C$3</c:f>
              <c:strCache>
                <c:ptCount val="1"/>
                <c:pt idx="0">
                  <c:v>Sum of Daily_Revenue</c:v>
                </c:pt>
              </c:strCache>
            </c:strRef>
          </c:tx>
          <c:dPt>
            <c:idx val="0"/>
            <c:bubble3D val="0"/>
            <c:spPr>
              <a:solidFill>
                <a:schemeClr val="accent1"/>
              </a:solidFill>
              <a:ln>
                <a:noFill/>
              </a:ln>
              <a:effectLst/>
            </c:spPr>
            <c:extLst>
              <c:ext xmlns:c16="http://schemas.microsoft.com/office/drawing/2014/chart" uri="{C3380CC4-5D6E-409C-BE32-E72D297353CC}">
                <c16:uniqueId val="{00000006-F2F9-4F3A-8B50-EE3D4E602272}"/>
              </c:ext>
            </c:extLst>
          </c:dPt>
          <c:dPt>
            <c:idx val="1"/>
            <c:bubble3D val="0"/>
            <c:spPr>
              <a:solidFill>
                <a:schemeClr val="accent2"/>
              </a:solidFill>
              <a:ln>
                <a:noFill/>
              </a:ln>
              <a:effectLst/>
            </c:spPr>
            <c:extLst>
              <c:ext xmlns:c16="http://schemas.microsoft.com/office/drawing/2014/chart" uri="{C3380CC4-5D6E-409C-BE32-E72D297353CC}">
                <c16:uniqueId val="{00000008-F2F9-4F3A-8B50-EE3D4E602272}"/>
              </c:ext>
            </c:extLst>
          </c:dPt>
          <c:cat>
            <c:strRef>
              <c:f>'Weekly Day Classification'!$A$4:$A$6</c:f>
              <c:strCache>
                <c:ptCount val="2"/>
                <c:pt idx="0">
                  <c:v>Weekday</c:v>
                </c:pt>
                <c:pt idx="1">
                  <c:v>Weekend</c:v>
                </c:pt>
              </c:strCache>
            </c:strRef>
          </c:cat>
          <c:val>
            <c:numRef>
              <c:f>'Weekly Day Classification'!$C$4:$C$6</c:f>
              <c:numCache>
                <c:formatCode>General</c:formatCode>
                <c:ptCount val="2"/>
                <c:pt idx="0">
                  <c:v>503587.53999999375</c:v>
                </c:pt>
                <c:pt idx="1">
                  <c:v>195224.79000000586</c:v>
                </c:pt>
              </c:numCache>
            </c:numRef>
          </c:val>
          <c:extLst>
            <c:ext xmlns:c16="http://schemas.microsoft.com/office/drawing/2014/chart" uri="{C3380CC4-5D6E-409C-BE32-E72D297353CC}">
              <c16:uniqueId val="{00000009-F2F9-4F3A-8B50-EE3D4E602272}"/>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[Sunday_Analysis.xlsx]Sheet11!PivotTable11</c:name>
    <c:fmtId val="8"/>
  </c:pivotSource>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ZA" sz="1800"/>
              <a:t>Revenue</a:t>
            </a:r>
            <a:r>
              <a:rPr lang="en-ZA" sz="1800" baseline="0"/>
              <a:t> Trend Overtime</a:t>
            </a:r>
            <a:endParaRPr lang="en-ZA" sz="180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Sheet11!$B$3</c:f>
              <c:strCache>
                <c:ptCount val="1"/>
                <c:pt idx="0">
                  <c:v>Total</c:v>
                </c:pt>
              </c:strCache>
            </c:strRef>
          </c:tx>
          <c:spPr>
            <a:ln w="28575" cap="rnd">
              <a:solidFill>
                <a:schemeClr val="accent1"/>
              </a:solidFill>
              <a:round/>
            </a:ln>
            <a:effectLst/>
          </c:spPr>
          <c:marker>
            <c:symbol val="none"/>
          </c:marker>
          <c:cat>
            <c:strRef>
              <c:f>Sheet11!$A$4:$A$10</c:f>
              <c:strCache>
                <c:ptCount val="6"/>
                <c:pt idx="0">
                  <c:v>Jan</c:v>
                </c:pt>
                <c:pt idx="1">
                  <c:v>Feb</c:v>
                </c:pt>
                <c:pt idx="2">
                  <c:v>Mar</c:v>
                </c:pt>
                <c:pt idx="3">
                  <c:v>Apr</c:v>
                </c:pt>
                <c:pt idx="4">
                  <c:v>May</c:v>
                </c:pt>
                <c:pt idx="5">
                  <c:v>Jun</c:v>
                </c:pt>
              </c:strCache>
            </c:strRef>
          </c:cat>
          <c:val>
            <c:numRef>
              <c:f>Sheet11!$B$4:$B$10</c:f>
              <c:numCache>
                <c:formatCode>General</c:formatCode>
                <c:ptCount val="6"/>
                <c:pt idx="0">
                  <c:v>81677.739999999263</c:v>
                </c:pt>
                <c:pt idx="1">
                  <c:v>76145.18999999958</c:v>
                </c:pt>
                <c:pt idx="2">
                  <c:v>98834.679999999964</c:v>
                </c:pt>
                <c:pt idx="3">
                  <c:v>118941.08000000102</c:v>
                </c:pt>
                <c:pt idx="4">
                  <c:v>156727.76000000443</c:v>
                </c:pt>
                <c:pt idx="5">
                  <c:v>166485.8800000053</c:v>
                </c:pt>
              </c:numCache>
            </c:numRef>
          </c:val>
          <c:smooth val="0"/>
          <c:extLst>
            <c:ext xmlns:c16="http://schemas.microsoft.com/office/drawing/2014/chart" uri="{C3380CC4-5D6E-409C-BE32-E72D297353CC}">
              <c16:uniqueId val="{00000000-1595-4775-85D1-1160C1561C45}"/>
            </c:ext>
          </c:extLst>
        </c:ser>
        <c:dLbls>
          <c:showLegendKey val="0"/>
          <c:showVal val="0"/>
          <c:showCatName val="0"/>
          <c:showSerName val="0"/>
          <c:showPercent val="0"/>
          <c:showBubbleSize val="0"/>
        </c:dLbls>
        <c:smooth val="0"/>
        <c:axId val="1375786416"/>
        <c:axId val="1375788336"/>
      </c:lineChart>
      <c:catAx>
        <c:axId val="1375786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5788336"/>
        <c:crosses val="autoZero"/>
        <c:auto val="1"/>
        <c:lblAlgn val="ctr"/>
        <c:lblOffset val="100"/>
        <c:noMultiLvlLbl val="0"/>
      </c:catAx>
      <c:valAx>
        <c:axId val="137578833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57864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[Sunday_Analysis.xlsx]Peak Hour!PivotTable10</c:name>
    <c:fmtId val="24"/>
  </c:pivotSource>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en-ZA" sz="1800" b="1"/>
              <a:t>Peak</a:t>
            </a:r>
            <a:r>
              <a:rPr lang="en-ZA" sz="1800" b="1" baseline="0"/>
              <a:t> Hour Time of Day</a:t>
            </a:r>
            <a:endParaRPr lang="en-ZA" sz="1800" b="1"/>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'Peak Hour'!$B$3:$B$4</c:f>
              <c:strCache>
                <c:ptCount val="1"/>
                <c:pt idx="0">
                  <c:v>Sun</c:v>
                </c:pt>
              </c:strCache>
            </c:strRef>
          </c:tx>
          <c:spPr>
            <a:solidFill>
              <a:schemeClr val="accent1"/>
            </a:solidFill>
            <a:ln>
              <a:noFill/>
            </a:ln>
            <a:effectLst/>
          </c:spPr>
          <c:invertIfNegative val="0"/>
          <c:cat>
            <c:strRef>
              <c:f>'Peak Hour'!$A$5:$A$10</c:f>
              <c:strCache>
                <c:ptCount val="5"/>
                <c:pt idx="0">
                  <c:v>01. Morning</c:v>
                </c:pt>
                <c:pt idx="1">
                  <c:v>02. Afternoon</c:v>
                </c:pt>
                <c:pt idx="2">
                  <c:v>03. Evening</c:v>
                </c:pt>
                <c:pt idx="3">
                  <c:v>04. Night</c:v>
                </c:pt>
                <c:pt idx="4">
                  <c:v>null</c:v>
                </c:pt>
              </c:strCache>
            </c:strRef>
          </c:cat>
          <c:val>
            <c:numRef>
              <c:f>'Peak Hour'!$B$5:$B$10</c:f>
              <c:numCache>
                <c:formatCode>General</c:formatCode>
                <c:ptCount val="5"/>
                <c:pt idx="0">
                  <c:v>11595</c:v>
                </c:pt>
                <c:pt idx="1">
                  <c:v>7537</c:v>
                </c:pt>
                <c:pt idx="2">
                  <c:v>1053</c:v>
                </c:pt>
                <c:pt idx="3">
                  <c:v>75</c:v>
                </c:pt>
                <c:pt idx="4">
                  <c:v>836</c:v>
                </c:pt>
              </c:numCache>
            </c:numRef>
          </c:val>
          <c:extLst>
            <c:ext xmlns:c16="http://schemas.microsoft.com/office/drawing/2014/chart" uri="{C3380CC4-5D6E-409C-BE32-E72D297353CC}">
              <c16:uniqueId val="{00000000-FE66-4D90-A986-BF003B62DAEE}"/>
            </c:ext>
          </c:extLst>
        </c:ser>
        <c:ser>
          <c:idx val="1"/>
          <c:order val="1"/>
          <c:tx>
            <c:strRef>
              <c:f>'Peak Hour'!$C$3:$C$4</c:f>
              <c:strCache>
                <c:ptCount val="1"/>
                <c:pt idx="0">
                  <c:v>Mon</c:v>
                </c:pt>
              </c:strCache>
            </c:strRef>
          </c:tx>
          <c:spPr>
            <a:solidFill>
              <a:schemeClr val="accent2"/>
            </a:solidFill>
            <a:ln>
              <a:noFill/>
            </a:ln>
            <a:effectLst/>
          </c:spPr>
          <c:invertIfNegative val="0"/>
          <c:cat>
            <c:strRef>
              <c:f>'Peak Hour'!$A$5:$A$10</c:f>
              <c:strCache>
                <c:ptCount val="5"/>
                <c:pt idx="0">
                  <c:v>01. Morning</c:v>
                </c:pt>
                <c:pt idx="1">
                  <c:v>02. Afternoon</c:v>
                </c:pt>
                <c:pt idx="2">
                  <c:v>03. Evening</c:v>
                </c:pt>
                <c:pt idx="3">
                  <c:v>04. Night</c:v>
                </c:pt>
                <c:pt idx="4">
                  <c:v>null</c:v>
                </c:pt>
              </c:strCache>
            </c:strRef>
          </c:cat>
          <c:val>
            <c:numRef>
              <c:f>'Peak Hour'!$C$5:$C$10</c:f>
              <c:numCache>
                <c:formatCode>General</c:formatCode>
                <c:ptCount val="5"/>
                <c:pt idx="0">
                  <c:v>11719</c:v>
                </c:pt>
                <c:pt idx="1">
                  <c:v>7927</c:v>
                </c:pt>
                <c:pt idx="2">
                  <c:v>1077</c:v>
                </c:pt>
                <c:pt idx="3">
                  <c:v>74</c:v>
                </c:pt>
                <c:pt idx="4">
                  <c:v>846</c:v>
                </c:pt>
              </c:numCache>
            </c:numRef>
          </c:val>
          <c:extLst>
            <c:ext xmlns:c16="http://schemas.microsoft.com/office/drawing/2014/chart" uri="{C3380CC4-5D6E-409C-BE32-E72D297353CC}">
              <c16:uniqueId val="{00000001-FE66-4D90-A986-BF003B62DAEE}"/>
            </c:ext>
          </c:extLst>
        </c:ser>
        <c:ser>
          <c:idx val="2"/>
          <c:order val="2"/>
          <c:tx>
            <c:strRef>
              <c:f>'Peak Hour'!$D$3:$D$4</c:f>
              <c:strCache>
                <c:ptCount val="1"/>
                <c:pt idx="0">
                  <c:v>Tue</c:v>
                </c:pt>
              </c:strCache>
            </c:strRef>
          </c:tx>
          <c:spPr>
            <a:solidFill>
              <a:schemeClr val="accent3"/>
            </a:solidFill>
            <a:ln>
              <a:noFill/>
            </a:ln>
            <a:effectLst/>
          </c:spPr>
          <c:invertIfNegative val="0"/>
          <c:cat>
            <c:strRef>
              <c:f>'Peak Hour'!$A$5:$A$10</c:f>
              <c:strCache>
                <c:ptCount val="5"/>
                <c:pt idx="0">
                  <c:v>01. Morning</c:v>
                </c:pt>
                <c:pt idx="1">
                  <c:v>02. Afternoon</c:v>
                </c:pt>
                <c:pt idx="2">
                  <c:v>03. Evening</c:v>
                </c:pt>
                <c:pt idx="3">
                  <c:v>04. Night</c:v>
                </c:pt>
                <c:pt idx="4">
                  <c:v>null</c:v>
                </c:pt>
              </c:strCache>
            </c:strRef>
          </c:cat>
          <c:val>
            <c:numRef>
              <c:f>'Peak Hour'!$D$5:$D$10</c:f>
              <c:numCache>
                <c:formatCode>General</c:formatCode>
                <c:ptCount val="5"/>
                <c:pt idx="0">
                  <c:v>12018</c:v>
                </c:pt>
                <c:pt idx="1">
                  <c:v>7215</c:v>
                </c:pt>
                <c:pt idx="2">
                  <c:v>957</c:v>
                </c:pt>
                <c:pt idx="3">
                  <c:v>140</c:v>
                </c:pt>
                <c:pt idx="4">
                  <c:v>872</c:v>
                </c:pt>
              </c:numCache>
            </c:numRef>
          </c:val>
          <c:extLst>
            <c:ext xmlns:c16="http://schemas.microsoft.com/office/drawing/2014/chart" uri="{C3380CC4-5D6E-409C-BE32-E72D297353CC}">
              <c16:uniqueId val="{00000002-FE66-4D90-A986-BF003B62DAEE}"/>
            </c:ext>
          </c:extLst>
        </c:ser>
        <c:ser>
          <c:idx val="3"/>
          <c:order val="3"/>
          <c:tx>
            <c:strRef>
              <c:f>'Peak Hour'!$E$3:$E$4</c:f>
              <c:strCache>
                <c:ptCount val="1"/>
                <c:pt idx="0">
                  <c:v>Wed</c:v>
                </c:pt>
              </c:strCache>
            </c:strRef>
          </c:tx>
          <c:spPr>
            <a:solidFill>
              <a:schemeClr val="accent4"/>
            </a:solidFill>
            <a:ln>
              <a:noFill/>
            </a:ln>
            <a:effectLst/>
          </c:spPr>
          <c:invertIfNegative val="0"/>
          <c:cat>
            <c:strRef>
              <c:f>'Peak Hour'!$A$5:$A$10</c:f>
              <c:strCache>
                <c:ptCount val="5"/>
                <c:pt idx="0">
                  <c:v>01. Morning</c:v>
                </c:pt>
                <c:pt idx="1">
                  <c:v>02. Afternoon</c:v>
                </c:pt>
                <c:pt idx="2">
                  <c:v>03. Evening</c:v>
                </c:pt>
                <c:pt idx="3">
                  <c:v>04. Night</c:v>
                </c:pt>
                <c:pt idx="4">
                  <c:v>null</c:v>
                </c:pt>
              </c:strCache>
            </c:strRef>
          </c:cat>
          <c:val>
            <c:numRef>
              <c:f>'Peak Hour'!$E$5:$E$10</c:f>
              <c:numCache>
                <c:formatCode>General</c:formatCode>
                <c:ptCount val="5"/>
                <c:pt idx="0">
                  <c:v>11702</c:v>
                </c:pt>
                <c:pt idx="1">
                  <c:v>7571</c:v>
                </c:pt>
                <c:pt idx="2">
                  <c:v>1118</c:v>
                </c:pt>
                <c:pt idx="3">
                  <c:v>83</c:v>
                </c:pt>
                <c:pt idx="4">
                  <c:v>836</c:v>
                </c:pt>
              </c:numCache>
            </c:numRef>
          </c:val>
          <c:extLst>
            <c:ext xmlns:c16="http://schemas.microsoft.com/office/drawing/2014/chart" uri="{C3380CC4-5D6E-409C-BE32-E72D297353CC}">
              <c16:uniqueId val="{00000003-FE66-4D90-A986-BF003B62DAEE}"/>
            </c:ext>
          </c:extLst>
        </c:ser>
        <c:ser>
          <c:idx val="4"/>
          <c:order val="4"/>
          <c:tx>
            <c:strRef>
              <c:f>'Peak Hour'!$F$3:$F$4</c:f>
              <c:strCache>
                <c:ptCount val="1"/>
                <c:pt idx="0">
                  <c:v>Thu</c:v>
                </c:pt>
              </c:strCache>
            </c:strRef>
          </c:tx>
          <c:spPr>
            <a:solidFill>
              <a:schemeClr val="accent5"/>
            </a:solidFill>
            <a:ln>
              <a:noFill/>
            </a:ln>
            <a:effectLst/>
          </c:spPr>
          <c:invertIfNegative val="0"/>
          <c:cat>
            <c:strRef>
              <c:f>'Peak Hour'!$A$5:$A$10</c:f>
              <c:strCache>
                <c:ptCount val="5"/>
                <c:pt idx="0">
                  <c:v>01. Morning</c:v>
                </c:pt>
                <c:pt idx="1">
                  <c:v>02. Afternoon</c:v>
                </c:pt>
                <c:pt idx="2">
                  <c:v>03. Evening</c:v>
                </c:pt>
                <c:pt idx="3">
                  <c:v>04. Night</c:v>
                </c:pt>
                <c:pt idx="4">
                  <c:v>null</c:v>
                </c:pt>
              </c:strCache>
            </c:strRef>
          </c:cat>
          <c:val>
            <c:numRef>
              <c:f>'Peak Hour'!$F$5:$F$10</c:f>
              <c:numCache>
                <c:formatCode>General</c:formatCode>
                <c:ptCount val="5"/>
                <c:pt idx="0">
                  <c:v>11494</c:v>
                </c:pt>
                <c:pt idx="1">
                  <c:v>8005</c:v>
                </c:pt>
                <c:pt idx="2">
                  <c:v>1125</c:v>
                </c:pt>
                <c:pt idx="3">
                  <c:v>60</c:v>
                </c:pt>
                <c:pt idx="4">
                  <c:v>970</c:v>
                </c:pt>
              </c:numCache>
            </c:numRef>
          </c:val>
          <c:extLst>
            <c:ext xmlns:c16="http://schemas.microsoft.com/office/drawing/2014/chart" uri="{C3380CC4-5D6E-409C-BE32-E72D297353CC}">
              <c16:uniqueId val="{00000004-FE66-4D90-A986-BF003B62DAEE}"/>
            </c:ext>
          </c:extLst>
        </c:ser>
        <c:ser>
          <c:idx val="5"/>
          <c:order val="5"/>
          <c:tx>
            <c:strRef>
              <c:f>'Peak Hour'!$G$3:$G$4</c:f>
              <c:strCache>
                <c:ptCount val="1"/>
                <c:pt idx="0">
                  <c:v>Fri</c:v>
                </c:pt>
              </c:strCache>
            </c:strRef>
          </c:tx>
          <c:spPr>
            <a:solidFill>
              <a:schemeClr val="accent6"/>
            </a:solidFill>
            <a:ln>
              <a:noFill/>
            </a:ln>
            <a:effectLst/>
          </c:spPr>
          <c:invertIfNegative val="0"/>
          <c:cat>
            <c:strRef>
              <c:f>'Peak Hour'!$A$5:$A$10</c:f>
              <c:strCache>
                <c:ptCount val="5"/>
                <c:pt idx="0">
                  <c:v>01. Morning</c:v>
                </c:pt>
                <c:pt idx="1">
                  <c:v>02. Afternoon</c:v>
                </c:pt>
                <c:pt idx="2">
                  <c:v>03. Evening</c:v>
                </c:pt>
                <c:pt idx="3">
                  <c:v>04. Night</c:v>
                </c:pt>
                <c:pt idx="4">
                  <c:v>null</c:v>
                </c:pt>
              </c:strCache>
            </c:strRef>
          </c:cat>
          <c:val>
            <c:numRef>
              <c:f>'Peak Hour'!$G$5:$G$10</c:f>
              <c:numCache>
                <c:formatCode>General</c:formatCode>
                <c:ptCount val="5"/>
                <c:pt idx="0">
                  <c:v>12113</c:v>
                </c:pt>
                <c:pt idx="1">
                  <c:v>7473</c:v>
                </c:pt>
                <c:pt idx="2">
                  <c:v>1149</c:v>
                </c:pt>
                <c:pt idx="3">
                  <c:v>80</c:v>
                </c:pt>
                <c:pt idx="4">
                  <c:v>886</c:v>
                </c:pt>
              </c:numCache>
            </c:numRef>
          </c:val>
          <c:extLst>
            <c:ext xmlns:c16="http://schemas.microsoft.com/office/drawing/2014/chart" uri="{C3380CC4-5D6E-409C-BE32-E72D297353CC}">
              <c16:uniqueId val="{00000005-FE66-4D90-A986-BF003B62DAEE}"/>
            </c:ext>
          </c:extLst>
        </c:ser>
        <c:ser>
          <c:idx val="6"/>
          <c:order val="6"/>
          <c:tx>
            <c:strRef>
              <c:f>'Peak Hour'!$H$3:$H$4</c:f>
              <c:strCache>
                <c:ptCount val="1"/>
                <c:pt idx="0">
                  <c:v>Sat</c:v>
                </c:pt>
              </c:strCache>
            </c:strRef>
          </c:tx>
          <c:spPr>
            <a:solidFill>
              <a:schemeClr val="accent1">
                <a:lumMod val="60000"/>
              </a:schemeClr>
            </a:solidFill>
            <a:ln>
              <a:noFill/>
            </a:ln>
            <a:effectLst/>
          </c:spPr>
          <c:invertIfNegative val="0"/>
          <c:cat>
            <c:strRef>
              <c:f>'Peak Hour'!$A$5:$A$10</c:f>
              <c:strCache>
                <c:ptCount val="5"/>
                <c:pt idx="0">
                  <c:v>01. Morning</c:v>
                </c:pt>
                <c:pt idx="1">
                  <c:v>02. Afternoon</c:v>
                </c:pt>
                <c:pt idx="2">
                  <c:v>03. Evening</c:v>
                </c:pt>
                <c:pt idx="3">
                  <c:v>04. Night</c:v>
                </c:pt>
                <c:pt idx="4">
                  <c:v>null</c:v>
                </c:pt>
              </c:strCache>
            </c:strRef>
          </c:cat>
          <c:val>
            <c:numRef>
              <c:f>'Peak Hour'!$H$5:$H$10</c:f>
              <c:numCache>
                <c:formatCode>General</c:formatCode>
                <c:ptCount val="5"/>
                <c:pt idx="0">
                  <c:v>11110</c:v>
                </c:pt>
                <c:pt idx="1">
                  <c:v>7444</c:v>
                </c:pt>
                <c:pt idx="2">
                  <c:v>1019</c:v>
                </c:pt>
                <c:pt idx="3">
                  <c:v>91</c:v>
                </c:pt>
                <c:pt idx="4">
                  <c:v>846</c:v>
                </c:pt>
              </c:numCache>
            </c:numRef>
          </c:val>
          <c:extLst>
            <c:ext xmlns:c16="http://schemas.microsoft.com/office/drawing/2014/chart" uri="{C3380CC4-5D6E-409C-BE32-E72D297353CC}">
              <c16:uniqueId val="{00000006-FE66-4D90-A986-BF003B62DAEE}"/>
            </c:ext>
          </c:extLst>
        </c:ser>
        <c:dLbls>
          <c:showLegendKey val="0"/>
          <c:showVal val="0"/>
          <c:showCatName val="0"/>
          <c:showSerName val="0"/>
          <c:showPercent val="0"/>
          <c:showBubbleSize val="0"/>
        </c:dLbls>
        <c:gapWidth val="219"/>
        <c:overlap val="-27"/>
        <c:axId val="637073663"/>
        <c:axId val="637072223"/>
      </c:barChart>
      <c:catAx>
        <c:axId val="63707366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7072223"/>
        <c:crosses val="autoZero"/>
        <c:auto val="1"/>
        <c:lblAlgn val="ctr"/>
        <c:lblOffset val="100"/>
        <c:noMultiLvlLbl val="0"/>
      </c:catAx>
      <c:valAx>
        <c:axId val="637072223"/>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707366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[Final Querry 28 March 2026.xlsx]Sheet1!PivotTable13</c:name>
    <c:fmtId val="11"/>
  </c:pivotSource>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en-ZA" sz="1800" b="1"/>
              <a:t>Customer</a:t>
            </a:r>
            <a:r>
              <a:rPr lang="en-ZA" sz="1800" b="1" baseline="0"/>
              <a:t> spend level</a:t>
            </a:r>
            <a:endParaRPr lang="en-ZA" sz="1800" b="1"/>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3"/>
          </a:solidFill>
          <a:ln>
            <a:noFill/>
          </a:ln>
          <a:effectLst/>
        </c:spPr>
      </c:pivotFmt>
      <c:pivotFmt>
        <c:idx val="2"/>
        <c:spPr>
          <a:solidFill>
            <a:schemeClr val="accent1"/>
          </a:solidFill>
          <a:ln>
            <a:noFill/>
          </a:ln>
          <a:effectLst/>
        </c:spPr>
      </c:pivotFmt>
      <c:pivotFmt>
        <c:idx val="3"/>
        <c:spPr>
          <a:solidFill>
            <a:schemeClr val="accent2"/>
          </a:solidFill>
          <a:ln>
            <a:noFill/>
          </a:ln>
          <a:effectLst/>
        </c:spPr>
        <c:dLbl>
          <c:idx val="0"/>
          <c:layout>
            <c:manualLayout>
              <c:x val="9.2592592592592587E-3"/>
              <c:y val="-6.8372388703210663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r>
                  <a:rPr lang="en-US" baseline="0"/>
                  <a:t> </a:t>
                </a:r>
                <a:fld id="{643B1E94-41DB-40DC-9D14-1316CBAE8425}" type="PERCENTAGE">
                  <a:rPr lang="en-US" baseline="0"/>
                  <a:pPr>
                    <a:defRPr sz="900" b="0"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
        <c:spPr>
          <a:solidFill>
            <a:schemeClr val="accent1"/>
          </a:solidFill>
          <a:ln>
            <a:noFill/>
          </a:ln>
          <a:effectLst/>
        </c:spPr>
      </c:pivotFmt>
      <c:pivotFmt>
        <c:idx val="6"/>
        <c:spPr>
          <a:solidFill>
            <a:schemeClr val="accent1"/>
          </a:solidFill>
          <a:ln>
            <a:noFill/>
          </a:ln>
          <a:effectLst/>
        </c:spPr>
        <c:dLbl>
          <c:idx val="0"/>
          <c:layout>
            <c:manualLayout>
              <c:x val="9.2592592592592587E-3"/>
              <c:y val="-6.8372388703210663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r>
                  <a:rPr lang="en-US" baseline="0"/>
                  <a:t> </a:t>
                </a:r>
                <a:fld id="{643B1E94-41DB-40DC-9D14-1316CBAE8425}" type="PERCENTAGE">
                  <a:rPr lang="en-US" baseline="0"/>
                  <a:pPr>
                    <a:defRPr sz="900" b="0"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7"/>
        <c:spPr>
          <a:solidFill>
            <a:schemeClr val="accent1"/>
          </a:solidFill>
          <a:ln>
            <a:noFill/>
          </a:ln>
          <a:effectLst/>
        </c:spPr>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1"/>
          </a:solidFill>
          <a:ln>
            <a:noFill/>
          </a:ln>
          <a:effectLst/>
        </c:spPr>
      </c:pivotFmt>
      <c:pivotFmt>
        <c:idx val="10"/>
        <c:spPr>
          <a:solidFill>
            <a:schemeClr val="accent1"/>
          </a:solidFill>
          <a:ln>
            <a:noFill/>
          </a:ln>
          <a:effectLst/>
        </c:spPr>
        <c:dLbl>
          <c:idx val="0"/>
          <c:layout>
            <c:manualLayout>
              <c:x val="9.2592592592592587E-3"/>
              <c:y val="-6.8372388703210663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r>
                  <a:rPr lang="en-US" baseline="0"/>
                  <a:t> </a:t>
                </a:r>
                <a:fld id="{643B1E94-41DB-40DC-9D14-1316CBAE8425}" type="PERCENTAGE">
                  <a:rPr lang="en-US" baseline="0"/>
                  <a:pPr>
                    <a:defRPr sz="900" b="0"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11"/>
        <c:spPr>
          <a:solidFill>
            <a:schemeClr val="accent1"/>
          </a:solidFill>
          <a:ln>
            <a:noFill/>
          </a:ln>
          <a:effectLst/>
        </c:spPr>
      </c:pivotFmt>
    </c:pivotFmts>
    <c:plotArea>
      <c:layout>
        <c:manualLayout>
          <c:layoutTarget val="inner"/>
          <c:xMode val="edge"/>
          <c:yMode val="edge"/>
          <c:x val="9.4485861504692514E-2"/>
          <c:y val="0.13423528384712466"/>
          <c:w val="0.57299989615895552"/>
          <c:h val="0.86234279364675626"/>
        </c:manualLayout>
      </c:layout>
      <c:doughnutChart>
        <c:varyColors val="1"/>
        <c:ser>
          <c:idx val="0"/>
          <c:order val="0"/>
          <c:tx>
            <c:strRef>
              <c:f>Sheet1!$B$3:$B$4</c:f>
              <c:strCache>
                <c:ptCount val="1"/>
                <c:pt idx="0">
                  <c:v>1</c:v>
                </c:pt>
              </c:strCache>
            </c:strRef>
          </c:tx>
          <c:dPt>
            <c:idx val="0"/>
            <c:bubble3D val="0"/>
            <c:spPr>
              <a:solidFill>
                <a:schemeClr val="accent1"/>
              </a:solidFill>
              <a:ln>
                <a:noFill/>
              </a:ln>
              <a:effectLst/>
            </c:spPr>
            <c:extLst>
              <c:ext xmlns:c16="http://schemas.microsoft.com/office/drawing/2014/chart" uri="{C3380CC4-5D6E-409C-BE32-E72D297353CC}">
                <c16:uniqueId val="{00000001-0C75-4C94-8680-8D161FC2A832}"/>
              </c:ext>
            </c:extLst>
          </c:dPt>
          <c:dPt>
            <c:idx val="1"/>
            <c:bubble3D val="0"/>
            <c:spPr>
              <a:solidFill>
                <a:schemeClr val="accent2"/>
              </a:solidFill>
              <a:ln>
                <a:noFill/>
              </a:ln>
              <a:effectLst/>
            </c:spPr>
            <c:extLst>
              <c:ext xmlns:c16="http://schemas.microsoft.com/office/drawing/2014/chart" uri="{C3380CC4-5D6E-409C-BE32-E72D297353CC}">
                <c16:uniqueId val="{00000003-0C75-4C94-8680-8D161FC2A832}"/>
              </c:ext>
            </c:extLst>
          </c:dPt>
          <c:dPt>
            <c:idx val="2"/>
            <c:bubble3D val="0"/>
            <c:spPr>
              <a:solidFill>
                <a:schemeClr val="accent3"/>
              </a:solidFill>
              <a:ln>
                <a:noFill/>
              </a:ln>
              <a:effectLst/>
            </c:spPr>
            <c:extLst>
              <c:ext xmlns:c16="http://schemas.microsoft.com/office/drawing/2014/chart" uri="{C3380CC4-5D6E-409C-BE32-E72D297353CC}">
                <c16:uniqueId val="{00000005-0C75-4C94-8680-8D161FC2A832}"/>
              </c:ext>
            </c:extLst>
          </c:dPt>
          <c:dLbls>
            <c:dLbl>
              <c:idx val="1"/>
              <c:layout>
                <c:manualLayout>
                  <c:x val="9.2592592592592587E-3"/>
                  <c:y val="-6.8372388703210663E-2"/>
                </c:manualLayout>
              </c:layout>
              <c:tx>
                <c:rich>
                  <a:bodyPr/>
                  <a:lstStyle/>
                  <a:p>
                    <a:r>
                      <a:rPr lang="en-US" baseline="0"/>
                      <a:t> </a:t>
                    </a:r>
                    <a:fld id="{643B1E94-41DB-40DC-9D14-1316CBAE8425}" type="PERCENTAGE">
                      <a:rPr lang="en-US" baseline="0"/>
                      <a:pPr/>
                      <a:t>[PERCENTAGE]</a:t>
                    </a:fld>
                    <a:endParaRPr lang="en-US" baseline="0"/>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C75-4C94-8680-8D161FC2A832}"/>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FF0000"/>
                    </a:solidFill>
                    <a:highlight>
                      <a:srgbClr val="FFFF00"/>
                    </a:highlight>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Sheet1!$A$5:$A$8</c:f>
              <c:strCache>
                <c:ptCount val="3"/>
                <c:pt idx="0">
                  <c:v>Average Spender</c:v>
                </c:pt>
                <c:pt idx="1">
                  <c:v>High Spender</c:v>
                </c:pt>
                <c:pt idx="2">
                  <c:v>Low Spend</c:v>
                </c:pt>
              </c:strCache>
            </c:strRef>
          </c:cat>
          <c:val>
            <c:numRef>
              <c:f>Sheet1!$B$5:$B$8</c:f>
              <c:numCache>
                <c:formatCode>General</c:formatCode>
                <c:ptCount val="3"/>
                <c:pt idx="0">
                  <c:v>19142.000000000051</c:v>
                </c:pt>
                <c:pt idx="1">
                  <c:v>12028</c:v>
                </c:pt>
                <c:pt idx="2">
                  <c:v>667642.32999994</c:v>
                </c:pt>
              </c:numCache>
            </c:numRef>
          </c:val>
          <c:extLst>
            <c:ext xmlns:c16="http://schemas.microsoft.com/office/drawing/2014/chart" uri="{C3380CC4-5D6E-409C-BE32-E72D297353CC}">
              <c16:uniqueId val="{00000006-38C0-4FD3-9F0E-4DFC14AC891C}"/>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layout>
        <c:manualLayout>
          <c:xMode val="edge"/>
          <c:yMode val="edge"/>
          <c:x val="0.78040412069910092"/>
          <c:y val="0.45036536803006388"/>
          <c:w val="0.20595331449871632"/>
          <c:h val="0.30081137544639658"/>
        </c:manualLayout>
      </c:layout>
      <c:overlay val="0"/>
      <c:spPr>
        <a:noFill/>
        <a:ln>
          <a:noFill/>
        </a:ln>
        <a:effectLst/>
      </c:spPr>
      <c:txPr>
        <a:bodyPr rot="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[Sunday_Analysis.xlsx]Sheet12!PivotTable12</c:name>
    <c:fmtId val="8"/>
  </c:pivotSource>
  <c:chart>
    <c:title>
      <c:tx>
        <c:rich>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r>
              <a:rPr lang="en-ZA" sz="2000" b="1"/>
              <a:t>Location</a:t>
            </a:r>
            <a:r>
              <a:rPr lang="en-ZA" sz="2000" b="1" baseline="0"/>
              <a:t> and Product Demand</a:t>
            </a:r>
            <a:endParaRPr lang="en-ZA" sz="2000" b="1"/>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Sheet12!$B$3:$B$4</c:f>
              <c:strCache>
                <c:ptCount val="1"/>
                <c:pt idx="0">
                  <c:v>Bakery</c:v>
                </c:pt>
              </c:strCache>
            </c:strRef>
          </c:tx>
          <c:spPr>
            <a:solidFill>
              <a:schemeClr val="accent1"/>
            </a:solidFill>
            <a:ln>
              <a:noFill/>
            </a:ln>
            <a:effectLst/>
          </c:spPr>
          <c:invertIfNegative val="0"/>
          <c:cat>
            <c:strRef>
              <c:f>Sheet12!$A$5:$A$8</c:f>
              <c:strCache>
                <c:ptCount val="3"/>
                <c:pt idx="0">
                  <c:v>Astoria</c:v>
                </c:pt>
                <c:pt idx="1">
                  <c:v>Hell's Kitchen</c:v>
                </c:pt>
                <c:pt idx="2">
                  <c:v>Lower Manhattan</c:v>
                </c:pt>
              </c:strCache>
            </c:strRef>
          </c:cat>
          <c:val>
            <c:numRef>
              <c:f>Sheet12!$B$5:$B$8</c:f>
              <c:numCache>
                <c:formatCode>General</c:formatCode>
                <c:ptCount val="3"/>
                <c:pt idx="0">
                  <c:v>26599.75</c:v>
                </c:pt>
                <c:pt idx="1">
                  <c:v>27386.950000000012</c:v>
                </c:pt>
                <c:pt idx="2">
                  <c:v>28328.940000000075</c:v>
                </c:pt>
              </c:numCache>
            </c:numRef>
          </c:val>
          <c:extLst>
            <c:ext xmlns:c16="http://schemas.microsoft.com/office/drawing/2014/chart" uri="{C3380CC4-5D6E-409C-BE32-E72D297353CC}">
              <c16:uniqueId val="{00000000-939B-478B-9B52-D927D50C394A}"/>
            </c:ext>
          </c:extLst>
        </c:ser>
        <c:ser>
          <c:idx val="1"/>
          <c:order val="1"/>
          <c:tx>
            <c:strRef>
              <c:f>Sheet12!$C$3:$C$4</c:f>
              <c:strCache>
                <c:ptCount val="1"/>
                <c:pt idx="0">
                  <c:v>Branded</c:v>
                </c:pt>
              </c:strCache>
            </c:strRef>
          </c:tx>
          <c:spPr>
            <a:solidFill>
              <a:schemeClr val="accent2"/>
            </a:solidFill>
            <a:ln>
              <a:noFill/>
            </a:ln>
            <a:effectLst/>
          </c:spPr>
          <c:invertIfNegative val="0"/>
          <c:cat>
            <c:strRef>
              <c:f>Sheet12!$A$5:$A$8</c:f>
              <c:strCache>
                <c:ptCount val="3"/>
                <c:pt idx="0">
                  <c:v>Astoria</c:v>
                </c:pt>
                <c:pt idx="1">
                  <c:v>Hell's Kitchen</c:v>
                </c:pt>
                <c:pt idx="2">
                  <c:v>Lower Manhattan</c:v>
                </c:pt>
              </c:strCache>
            </c:strRef>
          </c:cat>
          <c:val>
            <c:numRef>
              <c:f>Sheet12!$C$5:$C$8</c:f>
              <c:numCache>
                <c:formatCode>General</c:formatCode>
                <c:ptCount val="3"/>
                <c:pt idx="0">
                  <c:v>5457</c:v>
                </c:pt>
                <c:pt idx="1">
                  <c:v>1942</c:v>
                </c:pt>
                <c:pt idx="2">
                  <c:v>6208</c:v>
                </c:pt>
              </c:numCache>
            </c:numRef>
          </c:val>
          <c:extLst>
            <c:ext xmlns:c16="http://schemas.microsoft.com/office/drawing/2014/chart" uri="{C3380CC4-5D6E-409C-BE32-E72D297353CC}">
              <c16:uniqueId val="{00000001-939B-478B-9B52-D927D50C394A}"/>
            </c:ext>
          </c:extLst>
        </c:ser>
        <c:ser>
          <c:idx val="2"/>
          <c:order val="2"/>
          <c:tx>
            <c:strRef>
              <c:f>Sheet12!$D$3:$D$4</c:f>
              <c:strCache>
                <c:ptCount val="1"/>
                <c:pt idx="0">
                  <c:v>Coffee</c:v>
                </c:pt>
              </c:strCache>
            </c:strRef>
          </c:tx>
          <c:spPr>
            <a:solidFill>
              <a:schemeClr val="accent3"/>
            </a:solidFill>
            <a:ln>
              <a:noFill/>
            </a:ln>
            <a:effectLst/>
          </c:spPr>
          <c:invertIfNegative val="0"/>
          <c:cat>
            <c:strRef>
              <c:f>Sheet12!$A$5:$A$8</c:f>
              <c:strCache>
                <c:ptCount val="3"/>
                <c:pt idx="0">
                  <c:v>Astoria</c:v>
                </c:pt>
                <c:pt idx="1">
                  <c:v>Hell's Kitchen</c:v>
                </c:pt>
                <c:pt idx="2">
                  <c:v>Lower Manhattan</c:v>
                </c:pt>
              </c:strCache>
            </c:strRef>
          </c:cat>
          <c:val>
            <c:numRef>
              <c:f>Sheet12!$D$5:$D$8</c:f>
              <c:numCache>
                <c:formatCode>General</c:formatCode>
                <c:ptCount val="3"/>
                <c:pt idx="0">
                  <c:v>89744.299999995725</c:v>
                </c:pt>
                <c:pt idx="1">
                  <c:v>91222.649999996516</c:v>
                </c:pt>
                <c:pt idx="2">
                  <c:v>88985.499999997002</c:v>
                </c:pt>
              </c:numCache>
            </c:numRef>
          </c:val>
          <c:extLst>
            <c:ext xmlns:c16="http://schemas.microsoft.com/office/drawing/2014/chart" uri="{C3380CC4-5D6E-409C-BE32-E72D297353CC}">
              <c16:uniqueId val="{00000002-939B-478B-9B52-D927D50C394A}"/>
            </c:ext>
          </c:extLst>
        </c:ser>
        <c:ser>
          <c:idx val="3"/>
          <c:order val="3"/>
          <c:tx>
            <c:strRef>
              <c:f>Sheet12!$E$3:$E$4</c:f>
              <c:strCache>
                <c:ptCount val="1"/>
                <c:pt idx="0">
                  <c:v>Coffee beans</c:v>
                </c:pt>
              </c:strCache>
            </c:strRef>
          </c:tx>
          <c:spPr>
            <a:solidFill>
              <a:schemeClr val="accent4"/>
            </a:solidFill>
            <a:ln>
              <a:noFill/>
            </a:ln>
            <a:effectLst/>
          </c:spPr>
          <c:invertIfNegative val="0"/>
          <c:cat>
            <c:strRef>
              <c:f>Sheet12!$A$5:$A$8</c:f>
              <c:strCache>
                <c:ptCount val="3"/>
                <c:pt idx="0">
                  <c:v>Astoria</c:v>
                </c:pt>
                <c:pt idx="1">
                  <c:v>Hell's Kitchen</c:v>
                </c:pt>
                <c:pt idx="2">
                  <c:v>Lower Manhattan</c:v>
                </c:pt>
              </c:strCache>
            </c:strRef>
          </c:cat>
          <c:val>
            <c:numRef>
              <c:f>Sheet12!$E$5:$E$8</c:f>
              <c:numCache>
                <c:formatCode>General</c:formatCode>
                <c:ptCount val="3"/>
                <c:pt idx="0">
                  <c:v>10219.200000000001</c:v>
                </c:pt>
                <c:pt idx="1">
                  <c:v>18635.10000000002</c:v>
                </c:pt>
                <c:pt idx="2">
                  <c:v>11230.950000000004</c:v>
                </c:pt>
              </c:numCache>
            </c:numRef>
          </c:val>
          <c:extLst>
            <c:ext xmlns:c16="http://schemas.microsoft.com/office/drawing/2014/chart" uri="{C3380CC4-5D6E-409C-BE32-E72D297353CC}">
              <c16:uniqueId val="{00000003-939B-478B-9B52-D927D50C394A}"/>
            </c:ext>
          </c:extLst>
        </c:ser>
        <c:ser>
          <c:idx val="4"/>
          <c:order val="4"/>
          <c:tx>
            <c:strRef>
              <c:f>Sheet12!$F$3:$F$4</c:f>
              <c:strCache>
                <c:ptCount val="1"/>
                <c:pt idx="0">
                  <c:v>Drinking Chocolate</c:v>
                </c:pt>
              </c:strCache>
            </c:strRef>
          </c:tx>
          <c:spPr>
            <a:solidFill>
              <a:schemeClr val="accent5"/>
            </a:solidFill>
            <a:ln>
              <a:noFill/>
            </a:ln>
            <a:effectLst/>
          </c:spPr>
          <c:invertIfNegative val="0"/>
          <c:cat>
            <c:strRef>
              <c:f>Sheet12!$A$5:$A$8</c:f>
              <c:strCache>
                <c:ptCount val="3"/>
                <c:pt idx="0">
                  <c:v>Astoria</c:v>
                </c:pt>
                <c:pt idx="1">
                  <c:v>Hell's Kitchen</c:v>
                </c:pt>
                <c:pt idx="2">
                  <c:v>Lower Manhattan</c:v>
                </c:pt>
              </c:strCache>
            </c:strRef>
          </c:cat>
          <c:val>
            <c:numRef>
              <c:f>Sheet12!$F$5:$F$8</c:f>
              <c:numCache>
                <c:formatCode>General</c:formatCode>
                <c:ptCount val="3"/>
                <c:pt idx="0">
                  <c:v>26335.25</c:v>
                </c:pt>
                <c:pt idx="1">
                  <c:v>23586.25</c:v>
                </c:pt>
                <c:pt idx="2">
                  <c:v>22494.5</c:v>
                </c:pt>
              </c:numCache>
            </c:numRef>
          </c:val>
          <c:extLst>
            <c:ext xmlns:c16="http://schemas.microsoft.com/office/drawing/2014/chart" uri="{C3380CC4-5D6E-409C-BE32-E72D297353CC}">
              <c16:uniqueId val="{00000004-939B-478B-9B52-D927D50C394A}"/>
            </c:ext>
          </c:extLst>
        </c:ser>
        <c:ser>
          <c:idx val="5"/>
          <c:order val="5"/>
          <c:tx>
            <c:strRef>
              <c:f>Sheet12!$G$3:$G$4</c:f>
              <c:strCache>
                <c:ptCount val="1"/>
                <c:pt idx="0">
                  <c:v>Flavours</c:v>
                </c:pt>
              </c:strCache>
            </c:strRef>
          </c:tx>
          <c:spPr>
            <a:solidFill>
              <a:schemeClr val="accent6"/>
            </a:solidFill>
            <a:ln>
              <a:noFill/>
            </a:ln>
            <a:effectLst/>
          </c:spPr>
          <c:invertIfNegative val="0"/>
          <c:cat>
            <c:strRef>
              <c:f>Sheet12!$A$5:$A$8</c:f>
              <c:strCache>
                <c:ptCount val="3"/>
                <c:pt idx="0">
                  <c:v>Astoria</c:v>
                </c:pt>
                <c:pt idx="1">
                  <c:v>Hell's Kitchen</c:v>
                </c:pt>
                <c:pt idx="2">
                  <c:v>Lower Manhattan</c:v>
                </c:pt>
              </c:strCache>
            </c:strRef>
          </c:cat>
          <c:val>
            <c:numRef>
              <c:f>Sheet12!$G$5:$G$8</c:f>
              <c:numCache>
                <c:formatCode>General</c:formatCode>
                <c:ptCount val="3"/>
                <c:pt idx="0">
                  <c:v>1764.7999999999563</c:v>
                </c:pt>
                <c:pt idx="1">
                  <c:v>2876.7999999999688</c:v>
                </c:pt>
                <c:pt idx="2">
                  <c:v>3767.1999999999962</c:v>
                </c:pt>
              </c:numCache>
            </c:numRef>
          </c:val>
          <c:extLst>
            <c:ext xmlns:c16="http://schemas.microsoft.com/office/drawing/2014/chart" uri="{C3380CC4-5D6E-409C-BE32-E72D297353CC}">
              <c16:uniqueId val="{00000005-939B-478B-9B52-D927D50C394A}"/>
            </c:ext>
          </c:extLst>
        </c:ser>
        <c:ser>
          <c:idx val="6"/>
          <c:order val="6"/>
          <c:tx>
            <c:strRef>
              <c:f>Sheet12!$H$3:$H$4</c:f>
              <c:strCache>
                <c:ptCount val="1"/>
                <c:pt idx="0">
                  <c:v>Loose Tea</c:v>
                </c:pt>
              </c:strCache>
            </c:strRef>
          </c:tx>
          <c:spPr>
            <a:solidFill>
              <a:schemeClr val="accent1">
                <a:lumMod val="60000"/>
              </a:schemeClr>
            </a:solidFill>
            <a:ln>
              <a:noFill/>
            </a:ln>
            <a:effectLst/>
          </c:spPr>
          <c:invertIfNegative val="0"/>
          <c:cat>
            <c:strRef>
              <c:f>Sheet12!$A$5:$A$8</c:f>
              <c:strCache>
                <c:ptCount val="3"/>
                <c:pt idx="0">
                  <c:v>Astoria</c:v>
                </c:pt>
                <c:pt idx="1">
                  <c:v>Hell's Kitchen</c:v>
                </c:pt>
                <c:pt idx="2">
                  <c:v>Lower Manhattan</c:v>
                </c:pt>
              </c:strCache>
            </c:strRef>
          </c:cat>
          <c:val>
            <c:numRef>
              <c:f>Sheet12!$H$5:$H$8</c:f>
              <c:numCache>
                <c:formatCode>General</c:formatCode>
                <c:ptCount val="3"/>
                <c:pt idx="0">
                  <c:v>3193.9999999999891</c:v>
                </c:pt>
                <c:pt idx="1">
                  <c:v>4461.3499999999694</c:v>
                </c:pt>
                <c:pt idx="2">
                  <c:v>3558.2499999999859</c:v>
                </c:pt>
              </c:numCache>
            </c:numRef>
          </c:val>
          <c:extLst>
            <c:ext xmlns:c16="http://schemas.microsoft.com/office/drawing/2014/chart" uri="{C3380CC4-5D6E-409C-BE32-E72D297353CC}">
              <c16:uniqueId val="{00000006-939B-478B-9B52-D927D50C394A}"/>
            </c:ext>
          </c:extLst>
        </c:ser>
        <c:ser>
          <c:idx val="7"/>
          <c:order val="7"/>
          <c:tx>
            <c:strRef>
              <c:f>Sheet12!$I$3:$I$4</c:f>
              <c:strCache>
                <c:ptCount val="1"/>
                <c:pt idx="0">
                  <c:v>Packaged Chocolate</c:v>
                </c:pt>
              </c:strCache>
            </c:strRef>
          </c:tx>
          <c:spPr>
            <a:solidFill>
              <a:schemeClr val="accent2">
                <a:lumMod val="60000"/>
              </a:schemeClr>
            </a:solidFill>
            <a:ln>
              <a:noFill/>
            </a:ln>
            <a:effectLst/>
          </c:spPr>
          <c:invertIfNegative val="0"/>
          <c:cat>
            <c:strRef>
              <c:f>Sheet12!$A$5:$A$8</c:f>
              <c:strCache>
                <c:ptCount val="3"/>
                <c:pt idx="0">
                  <c:v>Astoria</c:v>
                </c:pt>
                <c:pt idx="1">
                  <c:v>Hell's Kitchen</c:v>
                </c:pt>
                <c:pt idx="2">
                  <c:v>Lower Manhattan</c:v>
                </c:pt>
              </c:strCache>
            </c:strRef>
          </c:cat>
          <c:val>
            <c:numRef>
              <c:f>Sheet12!$I$5:$I$8</c:f>
              <c:numCache>
                <c:formatCode>General</c:formatCode>
                <c:ptCount val="3"/>
                <c:pt idx="0">
                  <c:v>1089.7100000000009</c:v>
                </c:pt>
                <c:pt idx="1">
                  <c:v>1698.7699999999986</c:v>
                </c:pt>
                <c:pt idx="2">
                  <c:v>1619.1599999999978</c:v>
                </c:pt>
              </c:numCache>
            </c:numRef>
          </c:val>
          <c:extLst>
            <c:ext xmlns:c16="http://schemas.microsoft.com/office/drawing/2014/chart" uri="{C3380CC4-5D6E-409C-BE32-E72D297353CC}">
              <c16:uniqueId val="{00000007-939B-478B-9B52-D927D50C394A}"/>
            </c:ext>
          </c:extLst>
        </c:ser>
        <c:ser>
          <c:idx val="8"/>
          <c:order val="8"/>
          <c:tx>
            <c:strRef>
              <c:f>Sheet12!$J$3:$J$4</c:f>
              <c:strCache>
                <c:ptCount val="1"/>
                <c:pt idx="0">
                  <c:v>Tea</c:v>
                </c:pt>
              </c:strCache>
            </c:strRef>
          </c:tx>
          <c:spPr>
            <a:solidFill>
              <a:schemeClr val="accent3">
                <a:lumMod val="60000"/>
              </a:schemeClr>
            </a:solidFill>
            <a:ln>
              <a:noFill/>
            </a:ln>
            <a:effectLst/>
          </c:spPr>
          <c:invertIfNegative val="0"/>
          <c:cat>
            <c:strRef>
              <c:f>Sheet12!$A$5:$A$8</c:f>
              <c:strCache>
                <c:ptCount val="3"/>
                <c:pt idx="0">
                  <c:v>Astoria</c:v>
                </c:pt>
                <c:pt idx="1">
                  <c:v>Hell's Kitchen</c:v>
                </c:pt>
                <c:pt idx="2">
                  <c:v>Lower Manhattan</c:v>
                </c:pt>
              </c:strCache>
            </c:strRef>
          </c:cat>
          <c:val>
            <c:numRef>
              <c:f>Sheet12!$J$5:$J$8</c:f>
              <c:numCache>
                <c:formatCode>General</c:formatCode>
                <c:ptCount val="3"/>
                <c:pt idx="0">
                  <c:v>67839.899999998961</c:v>
                </c:pt>
                <c:pt idx="1">
                  <c:v>64701.299999999093</c:v>
                </c:pt>
                <c:pt idx="2">
                  <c:v>63864.749999999272</c:v>
                </c:pt>
              </c:numCache>
            </c:numRef>
          </c:val>
          <c:extLst>
            <c:ext xmlns:c16="http://schemas.microsoft.com/office/drawing/2014/chart" uri="{C3380CC4-5D6E-409C-BE32-E72D297353CC}">
              <c16:uniqueId val="{00000008-939B-478B-9B52-D927D50C394A}"/>
            </c:ext>
          </c:extLst>
        </c:ser>
        <c:dLbls>
          <c:showLegendKey val="0"/>
          <c:showVal val="0"/>
          <c:showCatName val="0"/>
          <c:showSerName val="0"/>
          <c:showPercent val="0"/>
          <c:showBubbleSize val="0"/>
        </c:dLbls>
        <c:gapWidth val="150"/>
        <c:axId val="755129408"/>
        <c:axId val="755130368"/>
      </c:barChart>
      <c:catAx>
        <c:axId val="755129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755130368"/>
        <c:crosses val="autoZero"/>
        <c:auto val="1"/>
        <c:lblAlgn val="ctr"/>
        <c:lblOffset val="100"/>
        <c:noMultiLvlLbl val="0"/>
      </c:catAx>
      <c:valAx>
        <c:axId val="755130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512940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D216F5-FD11-4CCA-B76D-F13181EB6488}" type="datetimeFigureOut">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3B5E40-6CC1-41C6-88FE-E236982D88EC}" type="slidenum">
              <a:t>‹#›</a:t>
            </a:fld>
            <a:endParaRPr lang="en-US"/>
          </a:p>
        </p:txBody>
      </p:sp>
    </p:spTree>
    <p:extLst>
      <p:ext uri="{BB962C8B-B14F-4D97-AF65-F5344CB8AC3E}">
        <p14:creationId xmlns:p14="http://schemas.microsoft.com/office/powerpoint/2010/main" val="3895807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cover slide establishes the overall identity of the coffee-themed presentation and sets the emotional tone for the audience from the first glance. This slide is designed around a rich coffee-brown background that evokes espresso, roasted beans, and café interiors, immediately signaling warmth, comfort, and craftsmanship. The color palette draws inspiration from real coffee elements: deep brown tones represent roasted coffee beans, while soft cream accents mirror milk foam, latte art, and café ceramics. This combination creates strong contrast while remaining visually soothing and professional. The typography is intentionally bold for the main title, ensuring high readability against the dark background, and communicates confidence and clarity. Center alignment reinforces balance and symmetry, making the slide suitable for a wide range of uses such as business presentations, brand storytelling, café menus, product launches, or lifestyle content. The optional subtitle supports the main title by introducing a short tagline or theme, such as “Warm • Modern • Minimal,” which helps frame the presentation’s purpose. From a branding perspective, this cover slide works well for coffee shops, roasteries, hospitality businesses, or sustainability-focused brands that want to communicate authenticity and quality. It can also be adapted for academic or creative presentations by simply changing the title text while retaining the visual language. The slide’s simplicity ensures that logos, presenter names, or event details can be added without clutter. Overall, the cover slide functions as a visual handshake: it invites the audience in, creates a memorable first impression, and establishes a cohesive coffee-inspired aesthetic that carries through the rest of the presentation. 
 Image source: Microsoft 365 content library</a:t>
            </a:r>
          </a:p>
        </p:txBody>
      </p:sp>
      <p:sp>
        <p:nvSpPr>
          <p:cNvPr id="4" name="Slide Number Placeholder 3"/>
          <p:cNvSpPr>
            <a:spLocks noGrp="1"/>
          </p:cNvSpPr>
          <p:nvPr>
            <p:ph type="sldNum" sz="quarter" idx="5"/>
          </p:nvPr>
        </p:nvSpPr>
        <p:spPr/>
        <p:txBody>
          <a:bodyPr/>
          <a:lstStyle/>
          <a:p>
            <a:fld id="{E1D4C8C2-7653-428F-B996-F54ED17CDEDB}" type="slidenum">
              <a:t>1</a:t>
            </a:fld>
            <a:endParaRPr lang="en-US"/>
          </a:p>
        </p:txBody>
      </p:sp>
    </p:spTree>
    <p:extLst>
      <p:ext uri="{BB962C8B-B14F-4D97-AF65-F5344CB8AC3E}">
        <p14:creationId xmlns:p14="http://schemas.microsoft.com/office/powerpoint/2010/main" val="2481367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content slide is designed for clarity, readability, and detailed information sharing, using a light cream background that contrasts with the darker coffee-themed slides. This visual shift is intentional: it reduces eye strain and makes longer text, bullet points, or key messages easier to read during presentations. The cream tone is inspired by milk, foam, and café interiors, ensuring that even lighter slides remain consistent with the overall coffee aesthetic. Text is displayed in a dark brown color, maintaining strong contrast while avoiding the harshness of pure black. This slide layout is ideal for explaining concepts, listing features, summarizing research findings, or highlighting key points such as tasting notes, product benefits, or sustainability practices. Bullet points such as “Rich espresso notes,” “Handcrafted blends,” and “Sustainable sourcing” demonstrate how concise text can be presented in a clean and elegant way. The generous spacing and simple layout help prevent visual clutter, allowing the audience to focus on the message rather than decorative elements. From a practical perspective, this slide type is highly versatile and can accommodate additional elements like icons, charts, images, or short quotes if needed. It works well in both professional and creative contexts, including business pitches, brand storytelling, educational workshops, and internal reports. By balancing warmth with functionality, the content slide ensures that information is communicated effectively while still reinforcing the cozy, premium feel of the coffee theme. Together with the cover and section slides, it completes a flexible, visually cohesive template suitable for a wide range of presentation needs.</a:t>
            </a:r>
          </a:p>
        </p:txBody>
      </p:sp>
      <p:sp>
        <p:nvSpPr>
          <p:cNvPr id="4" name="Slide Number Placeholder 3"/>
          <p:cNvSpPr>
            <a:spLocks noGrp="1"/>
          </p:cNvSpPr>
          <p:nvPr>
            <p:ph type="sldNum" sz="quarter" idx="5"/>
          </p:nvPr>
        </p:nvSpPr>
        <p:spPr/>
        <p:txBody>
          <a:bodyPr/>
          <a:lstStyle/>
          <a:p>
            <a:fld id="{E1D4C8C2-7653-428F-B996-F54ED17CDEDB}" type="slidenum">
              <a:t>2</a:t>
            </a:fld>
            <a:endParaRPr lang="en-US"/>
          </a:p>
        </p:txBody>
      </p:sp>
    </p:spTree>
    <p:extLst>
      <p:ext uri="{BB962C8B-B14F-4D97-AF65-F5344CB8AC3E}">
        <p14:creationId xmlns:p14="http://schemas.microsoft.com/office/powerpoint/2010/main" val="3730300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2D543-8151-9244-4B5F-0ED1257B1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48AD9E-E355-416B-BDA9-27755DFB2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23C9D-176C-CB42-0BDA-D022E1FF4859}"/>
              </a:ext>
            </a:extLst>
          </p:cNvPr>
          <p:cNvSpPr>
            <a:spLocks noGrp="1"/>
          </p:cNvSpPr>
          <p:nvPr>
            <p:ph type="body" idx="1"/>
          </p:nvPr>
        </p:nvSpPr>
        <p:spPr/>
        <p:txBody>
          <a:bodyPr/>
          <a:lstStyle/>
          <a:p>
            <a:r>
              <a:rPr lang="en-US"/>
              <a:t>
The content slide is designed for clarity, readability, and detailed information sharing, using a light cream background that contrasts with the darker coffee-themed slides. This visual shift is intentional: it reduces eye strain and makes longer text, bullet points, or key messages easier to read during presentations. The cream tone is inspired by milk, foam, and café interiors, ensuring that even lighter slides remain consistent with the overall coffee aesthetic. Text is displayed in a dark brown color, maintaining strong contrast while avoiding the harshness of pure black. This slide layout is ideal for explaining concepts, listing features, summarizing research findings, or highlighting key points such as tasting notes, product benefits, or sustainability practices. Bullet points such as “Rich espresso notes,” “Handcrafted blends,” and “Sustainable sourcing” demonstrate how concise text can be presented in a clean and elegant way. The generous spacing and simple layout help prevent visual clutter, allowing the audience to focus on the message rather than decorative elements. From a practical perspective, this slide type is highly versatile and can accommodate additional elements like icons, charts, images, or short quotes if needed. It works well in both professional and creative contexts, including business pitches, brand storytelling, educational workshops, and internal reports. By balancing warmth with functionality, the content slide ensures that information is communicated effectively while still reinforcing the cozy, premium feel of the coffee theme. Together with the cover and section slides, it completes a flexible, visually cohesive template suitable for a wide range of presentation needs.</a:t>
            </a:r>
          </a:p>
        </p:txBody>
      </p:sp>
      <p:sp>
        <p:nvSpPr>
          <p:cNvPr id="4" name="Slide Number Placeholder 3">
            <a:extLst>
              <a:ext uri="{FF2B5EF4-FFF2-40B4-BE49-F238E27FC236}">
                <a16:creationId xmlns:a16="http://schemas.microsoft.com/office/drawing/2014/main" id="{C978E4FD-0DB7-57EF-2526-F0BA95C39188}"/>
              </a:ext>
            </a:extLst>
          </p:cNvPr>
          <p:cNvSpPr>
            <a:spLocks noGrp="1"/>
          </p:cNvSpPr>
          <p:nvPr>
            <p:ph type="sldNum" sz="quarter" idx="5"/>
          </p:nvPr>
        </p:nvSpPr>
        <p:spPr/>
        <p:txBody>
          <a:bodyPr/>
          <a:lstStyle/>
          <a:p>
            <a:fld id="{E1D4C8C2-7653-428F-B996-F54ED17CDEDB}" type="slidenum">
              <a:t>3</a:t>
            </a:fld>
            <a:endParaRPr lang="en-US"/>
          </a:p>
        </p:txBody>
      </p:sp>
    </p:spTree>
    <p:extLst>
      <p:ext uri="{BB962C8B-B14F-4D97-AF65-F5344CB8AC3E}">
        <p14:creationId xmlns:p14="http://schemas.microsoft.com/office/powerpoint/2010/main" val="3467519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6D8AC-6104-4CE1-BFCA-4BF777968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4055E-DD7C-AAD3-11EC-6C62517839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53EA7-B26C-5094-82C3-8D57F1697886}"/>
              </a:ext>
            </a:extLst>
          </p:cNvPr>
          <p:cNvSpPr>
            <a:spLocks noGrp="1"/>
          </p:cNvSpPr>
          <p:nvPr>
            <p:ph type="body" idx="1"/>
          </p:nvPr>
        </p:nvSpPr>
        <p:spPr/>
        <p:txBody>
          <a:bodyPr/>
          <a:lstStyle/>
          <a:p>
            <a:r>
              <a:rPr lang="en-US"/>
              <a:t>
The content slide is designed for clarity, readability, and detailed information sharing, using a light cream background that contrasts with the darker coffee-themed slides. This visual shift is intentional: it reduces eye strain and makes longer text, bullet points, or key messages easier to read during presentations. The cream tone is inspired by milk, foam, and café interiors, ensuring that even lighter slides remain consistent with the overall coffee aesthetic. Text is displayed in a dark brown color, maintaining strong contrast while avoiding the harshness of pure black. This slide layout is ideal for explaining concepts, listing features, summarizing research findings, or highlighting key points such as tasting notes, product benefits, or sustainability practices. Bullet points such as “Rich espresso notes,” “Handcrafted blends,” and “Sustainable sourcing” demonstrate how concise text can be presented in a clean and elegant way. The generous spacing and simple layout help prevent visual clutter, allowing the audience to focus on the message rather than decorative elements. From a practical perspective, this slide type is highly versatile and can accommodate additional elements like icons, charts, images, or short quotes if needed. It works well in both professional and creative contexts, including business pitches, brand storytelling, educational workshops, and internal reports. By balancing warmth with functionality, the content slide ensures that information is communicated effectively while still reinforcing the cozy, premium feel of the coffee theme. Together with the cover and section slides, it completes a flexible, visually cohesive template suitable for a wide range of presentation needs.</a:t>
            </a:r>
          </a:p>
        </p:txBody>
      </p:sp>
      <p:sp>
        <p:nvSpPr>
          <p:cNvPr id="4" name="Slide Number Placeholder 3">
            <a:extLst>
              <a:ext uri="{FF2B5EF4-FFF2-40B4-BE49-F238E27FC236}">
                <a16:creationId xmlns:a16="http://schemas.microsoft.com/office/drawing/2014/main" id="{AC57DED2-4EC1-8403-CF82-61DA1B981A74}"/>
              </a:ext>
            </a:extLst>
          </p:cNvPr>
          <p:cNvSpPr>
            <a:spLocks noGrp="1"/>
          </p:cNvSpPr>
          <p:nvPr>
            <p:ph type="sldNum" sz="quarter" idx="5"/>
          </p:nvPr>
        </p:nvSpPr>
        <p:spPr/>
        <p:txBody>
          <a:bodyPr/>
          <a:lstStyle/>
          <a:p>
            <a:fld id="{E1D4C8C2-7653-428F-B996-F54ED17CDEDB}" type="slidenum">
              <a:t>4</a:t>
            </a:fld>
            <a:endParaRPr lang="en-US"/>
          </a:p>
        </p:txBody>
      </p:sp>
    </p:spTree>
    <p:extLst>
      <p:ext uri="{BB962C8B-B14F-4D97-AF65-F5344CB8AC3E}">
        <p14:creationId xmlns:p14="http://schemas.microsoft.com/office/powerpoint/2010/main" val="3265094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AC8D-C6C2-FC82-71D8-B341FFFD73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FDB32-1470-EBC8-0179-3FACC35BE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01350-6C7C-00CA-531F-3A8FF062F1F0}"/>
              </a:ext>
            </a:extLst>
          </p:cNvPr>
          <p:cNvSpPr>
            <a:spLocks noGrp="1"/>
          </p:cNvSpPr>
          <p:nvPr>
            <p:ph type="body" idx="1"/>
          </p:nvPr>
        </p:nvSpPr>
        <p:spPr/>
        <p:txBody>
          <a:bodyPr/>
          <a:lstStyle/>
          <a:p>
            <a:r>
              <a:rPr lang="en-US"/>
              <a:t>
The content slide is designed for clarity, readability, and detailed information sharing, using a light cream background that contrasts with the darker coffee-themed slides. This visual shift is intentional: it reduces eye strain and makes longer text, bullet points, or key messages easier to read during presentations. The cream tone is inspired by milk, foam, and café interiors, ensuring that even lighter slides remain consistent with the overall coffee aesthetic. Text is displayed in a dark brown color, maintaining strong contrast while avoiding the harshness of pure black. This slide layout is ideal for explaining concepts, listing features, summarizing research findings, or highlighting key points such as tasting notes, product benefits, or sustainability practices. Bullet points such as “Rich espresso notes,” “Handcrafted blends,” and “Sustainable sourcing” demonstrate how concise text can be presented in a clean and elegant way. The generous spacing and simple layout help prevent visual clutter, allowing the audience to focus on the message rather than decorative elements. From a practical perspective, this slide type is highly versatile and can accommodate additional elements like icons, charts, images, or short quotes if needed. It works well in both professional and creative contexts, including business pitches, brand storytelling, educational workshops, and internal reports. By balancing warmth with functionality, the content slide ensures that information is communicated effectively while still reinforcing the cozy, premium feel of the coffee theme. Together with the cover and section slides, it completes a flexible, visually cohesive template suitable for a wide range of presentation needs.</a:t>
            </a:r>
          </a:p>
        </p:txBody>
      </p:sp>
      <p:sp>
        <p:nvSpPr>
          <p:cNvPr id="4" name="Slide Number Placeholder 3">
            <a:extLst>
              <a:ext uri="{FF2B5EF4-FFF2-40B4-BE49-F238E27FC236}">
                <a16:creationId xmlns:a16="http://schemas.microsoft.com/office/drawing/2014/main" id="{24CE59CC-DBF0-964F-7929-0615FFA8456B}"/>
              </a:ext>
            </a:extLst>
          </p:cNvPr>
          <p:cNvSpPr>
            <a:spLocks noGrp="1"/>
          </p:cNvSpPr>
          <p:nvPr>
            <p:ph type="sldNum" sz="quarter" idx="5"/>
          </p:nvPr>
        </p:nvSpPr>
        <p:spPr/>
        <p:txBody>
          <a:bodyPr/>
          <a:lstStyle/>
          <a:p>
            <a:fld id="{E1D4C8C2-7653-428F-B996-F54ED17CDEDB}" type="slidenum">
              <a:t>5</a:t>
            </a:fld>
            <a:endParaRPr lang="en-US"/>
          </a:p>
        </p:txBody>
      </p:sp>
    </p:spTree>
    <p:extLst>
      <p:ext uri="{BB962C8B-B14F-4D97-AF65-F5344CB8AC3E}">
        <p14:creationId xmlns:p14="http://schemas.microsoft.com/office/powerpoint/2010/main" val="3531167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BAA3E-6A9C-0E6A-1C76-29723E5CE2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AD697-6182-7F32-6A43-999E1C5DB6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D5FDD7-67A6-0C30-C3DA-C815AAC07F1C}"/>
              </a:ext>
            </a:extLst>
          </p:cNvPr>
          <p:cNvSpPr>
            <a:spLocks noGrp="1"/>
          </p:cNvSpPr>
          <p:nvPr>
            <p:ph type="body" idx="1"/>
          </p:nvPr>
        </p:nvSpPr>
        <p:spPr/>
        <p:txBody>
          <a:bodyPr/>
          <a:lstStyle/>
          <a:p>
            <a:r>
              <a:rPr lang="en-US"/>
              <a:t>
The content slide is designed for clarity, readability, and detailed information sharing, using a light cream background that contrasts with the darker coffee-themed slides. This visual shift is intentional: it reduces eye strain and makes longer text, bullet points, or key messages easier to read during presentations. The cream tone is inspired by milk, foam, and café interiors, ensuring that even lighter slides remain consistent with the overall coffee aesthetic. Text is displayed in a dark brown color, maintaining strong contrast while avoiding the harshness of pure black. This slide layout is ideal for explaining concepts, listing features, summarizing research findings, or highlighting key points such as tasting notes, product benefits, or sustainability practices. Bullet points such as “Rich espresso notes,” “Handcrafted blends,” and “Sustainable sourcing” demonstrate how concise text can be presented in a clean and elegant way. The generous spacing and simple layout help prevent visual clutter, allowing the audience to focus on the message rather than decorative elements. From a practical perspective, this slide type is highly versatile and can accommodate additional elements like icons, charts, images, or short quotes if needed. It works well in both professional and creative contexts, including business pitches, brand storytelling, educational workshops, and internal reports. By balancing warmth with functionality, the content slide ensures that information is communicated effectively while still reinforcing the cozy, premium feel of the coffee theme. Together with the cover and section slides, it completes a flexible, visually cohesive template suitable for a wide range of presentation needs.</a:t>
            </a:r>
          </a:p>
        </p:txBody>
      </p:sp>
      <p:sp>
        <p:nvSpPr>
          <p:cNvPr id="4" name="Slide Number Placeholder 3">
            <a:extLst>
              <a:ext uri="{FF2B5EF4-FFF2-40B4-BE49-F238E27FC236}">
                <a16:creationId xmlns:a16="http://schemas.microsoft.com/office/drawing/2014/main" id="{FCE5FDE4-99D1-770A-A140-1DE39DAF6A0B}"/>
              </a:ext>
            </a:extLst>
          </p:cNvPr>
          <p:cNvSpPr>
            <a:spLocks noGrp="1"/>
          </p:cNvSpPr>
          <p:nvPr>
            <p:ph type="sldNum" sz="quarter" idx="5"/>
          </p:nvPr>
        </p:nvSpPr>
        <p:spPr/>
        <p:txBody>
          <a:bodyPr/>
          <a:lstStyle/>
          <a:p>
            <a:fld id="{E1D4C8C2-7653-428F-B996-F54ED17CDEDB}" type="slidenum">
              <a:t>6</a:t>
            </a:fld>
            <a:endParaRPr lang="en-US"/>
          </a:p>
        </p:txBody>
      </p:sp>
    </p:spTree>
    <p:extLst>
      <p:ext uri="{BB962C8B-B14F-4D97-AF65-F5344CB8AC3E}">
        <p14:creationId xmlns:p14="http://schemas.microsoft.com/office/powerpoint/2010/main" val="1767317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F7CD4-2BB5-C6A4-0216-173C33856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AB4E2A-7BDE-C536-CD57-0F0168C12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42621-C191-6865-DE27-E5CDF6C431DA}"/>
              </a:ext>
            </a:extLst>
          </p:cNvPr>
          <p:cNvSpPr>
            <a:spLocks noGrp="1"/>
          </p:cNvSpPr>
          <p:nvPr>
            <p:ph type="body" idx="1"/>
          </p:nvPr>
        </p:nvSpPr>
        <p:spPr/>
        <p:txBody>
          <a:bodyPr/>
          <a:lstStyle/>
          <a:p>
            <a:r>
              <a:rPr lang="en-US"/>
              <a:t>
The content slide is designed for clarity, readability, and detailed information sharing, using a light cream background that contrasts with the darker coffee-themed slides. This visual shift is intentional: it reduces eye strain and makes longer text, bullet points, or key messages easier to read during presentations. The cream tone is inspired by milk, foam, and café interiors, ensuring that even lighter slides remain consistent with the overall coffee aesthetic. Text is displayed in a dark brown color, maintaining strong contrast while avoiding the harshness of pure black. This slide layout is ideal for explaining concepts, listing features, summarizing research findings, or highlighting key points such as tasting notes, product benefits, or sustainability practices. Bullet points such as “Rich espresso notes,” “Handcrafted blends,” and “Sustainable sourcing” demonstrate how concise text can be presented in a clean and elegant way. The generous spacing and simple layout help prevent visual clutter, allowing the audience to focus on the message rather than decorative elements. From a practical perspective, this slide type is highly versatile and can accommodate additional elements like icons, charts, images, or short quotes if needed. It works well in both professional and creative contexts, including business pitches, brand storytelling, educational workshops, and internal reports. By balancing warmth with functionality, the content slide ensures that information is communicated effectively while still reinforcing the cozy, premium feel of the coffee theme. Together with the cover and section slides, it completes a flexible, visually cohesive template suitable for a wide range of presentation needs.</a:t>
            </a:r>
          </a:p>
        </p:txBody>
      </p:sp>
      <p:sp>
        <p:nvSpPr>
          <p:cNvPr id="4" name="Slide Number Placeholder 3">
            <a:extLst>
              <a:ext uri="{FF2B5EF4-FFF2-40B4-BE49-F238E27FC236}">
                <a16:creationId xmlns:a16="http://schemas.microsoft.com/office/drawing/2014/main" id="{5A4DE896-D490-DB78-784F-3351EB676544}"/>
              </a:ext>
            </a:extLst>
          </p:cNvPr>
          <p:cNvSpPr>
            <a:spLocks noGrp="1"/>
          </p:cNvSpPr>
          <p:nvPr>
            <p:ph type="sldNum" sz="quarter" idx="5"/>
          </p:nvPr>
        </p:nvSpPr>
        <p:spPr/>
        <p:txBody>
          <a:bodyPr/>
          <a:lstStyle/>
          <a:p>
            <a:fld id="{E1D4C8C2-7653-428F-B996-F54ED17CDEDB}" type="slidenum">
              <a:t>7</a:t>
            </a:fld>
            <a:endParaRPr lang="en-US"/>
          </a:p>
        </p:txBody>
      </p:sp>
    </p:spTree>
    <p:extLst>
      <p:ext uri="{BB962C8B-B14F-4D97-AF65-F5344CB8AC3E}">
        <p14:creationId xmlns:p14="http://schemas.microsoft.com/office/powerpoint/2010/main" val="749866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FFDE2-2BE4-FF80-9618-624E47810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6EAEC-762E-D3C8-48B2-F45317A269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A1169-E468-634E-8BBE-11F9495DDD03}"/>
              </a:ext>
            </a:extLst>
          </p:cNvPr>
          <p:cNvSpPr>
            <a:spLocks noGrp="1"/>
          </p:cNvSpPr>
          <p:nvPr>
            <p:ph type="body" idx="1"/>
          </p:nvPr>
        </p:nvSpPr>
        <p:spPr/>
        <p:txBody>
          <a:bodyPr/>
          <a:lstStyle/>
          <a:p>
            <a:r>
              <a:rPr lang="en-US"/>
              <a:t>
The content slide is designed for clarity, readability, and detailed information sharing, using a light cream background that contrasts with the darker coffee-themed slides. This visual shift is intentional: it reduces eye strain and makes longer text, bullet points, or key messages easier to read during presentations. The cream tone is inspired by milk, foam, and café interiors, ensuring that even lighter slides remain consistent with the overall coffee aesthetic. Text is displayed in a dark brown color, maintaining strong contrast while avoiding the harshness of pure black. This slide layout is ideal for explaining concepts, listing features, summarizing research findings, or highlighting key points such as tasting notes, product benefits, or sustainability practices. Bullet points such as “Rich espresso notes,” “Handcrafted blends,” and “Sustainable sourcing” demonstrate how concise text can be presented in a clean and elegant way. The generous spacing and simple layout help prevent visual clutter, allowing the audience to focus on the message rather than decorative elements. From a practical perspective, this slide type is highly versatile and can accommodate additional elements like icons, charts, images, or short quotes if needed. It works well in both professional and creative contexts, including business pitches, brand storytelling, educational workshops, and internal reports. By balancing warmth with functionality, the content slide ensures that information is communicated effectively while still reinforcing the cozy, premium feel of the coffee theme. Together with the cover and section slides, it completes a flexible, visually cohesive template suitable for a wide range of presentation needs.</a:t>
            </a:r>
          </a:p>
        </p:txBody>
      </p:sp>
      <p:sp>
        <p:nvSpPr>
          <p:cNvPr id="4" name="Slide Number Placeholder 3">
            <a:extLst>
              <a:ext uri="{FF2B5EF4-FFF2-40B4-BE49-F238E27FC236}">
                <a16:creationId xmlns:a16="http://schemas.microsoft.com/office/drawing/2014/main" id="{BB65A220-7969-8DAF-6CFF-D524CD9F74CB}"/>
              </a:ext>
            </a:extLst>
          </p:cNvPr>
          <p:cNvSpPr>
            <a:spLocks noGrp="1"/>
          </p:cNvSpPr>
          <p:nvPr>
            <p:ph type="sldNum" sz="quarter" idx="5"/>
          </p:nvPr>
        </p:nvSpPr>
        <p:spPr/>
        <p:txBody>
          <a:bodyPr/>
          <a:lstStyle/>
          <a:p>
            <a:fld id="{E1D4C8C2-7653-428F-B996-F54ED17CDEDB}" type="slidenum">
              <a:t>8</a:t>
            </a:fld>
            <a:endParaRPr lang="en-US"/>
          </a:p>
        </p:txBody>
      </p:sp>
    </p:spTree>
    <p:extLst>
      <p:ext uri="{BB962C8B-B14F-4D97-AF65-F5344CB8AC3E}">
        <p14:creationId xmlns:p14="http://schemas.microsoft.com/office/powerpoint/2010/main" val="4281692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F73F9-2CD1-8F9B-4324-BAB3D9F79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7BE5F-3299-3883-9818-89CF3A00EA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B40433-D7FF-58D8-DD65-EB9CAEFFFB20}"/>
              </a:ext>
            </a:extLst>
          </p:cNvPr>
          <p:cNvSpPr>
            <a:spLocks noGrp="1"/>
          </p:cNvSpPr>
          <p:nvPr>
            <p:ph type="body" idx="1"/>
          </p:nvPr>
        </p:nvSpPr>
        <p:spPr/>
        <p:txBody>
          <a:bodyPr/>
          <a:lstStyle/>
          <a:p>
            <a:r>
              <a:rPr lang="en-US"/>
              <a:t>
The content slide is designed for clarity, readability, and detailed information sharing, using a light cream background that contrasts with the darker coffee-themed slides. This visual shift is intentional: it reduces eye strain and makes longer text, bullet points, or key messages easier to read during presentations. The cream tone is inspired by milk, foam, and café interiors, ensuring that even lighter slides remain consistent with the overall coffee aesthetic. Text is displayed in a dark brown color, maintaining strong contrast while avoiding the harshness of pure black. This slide layout is ideal for explaining concepts, listing features, summarizing research findings, or highlighting key points such as tasting notes, product benefits, or sustainability practices. Bullet points such as “Rich espresso notes,” “Handcrafted blends,” and “Sustainable sourcing” demonstrate how concise text can be presented in a clean and elegant way. The generous spacing and simple layout help prevent visual clutter, allowing the audience to focus on the message rather than decorative elements. From a practical perspective, this slide type is highly versatile and can accommodate additional elements like icons, charts, images, or short quotes if needed. It works well in both professional and creative contexts, including business pitches, brand storytelling, educational workshops, and internal reports. By balancing warmth with functionality, the content slide ensures that information is communicated effectively while still reinforcing the cozy, premium feel of the coffee theme. Together with the cover and section slides, it completes a flexible, visually cohesive template suitable for a wide range of presentation needs.</a:t>
            </a:r>
          </a:p>
        </p:txBody>
      </p:sp>
      <p:sp>
        <p:nvSpPr>
          <p:cNvPr id="4" name="Slide Number Placeholder 3">
            <a:extLst>
              <a:ext uri="{FF2B5EF4-FFF2-40B4-BE49-F238E27FC236}">
                <a16:creationId xmlns:a16="http://schemas.microsoft.com/office/drawing/2014/main" id="{94BF1409-BC8E-07BD-7E71-CA8CEBF1A50F}"/>
              </a:ext>
            </a:extLst>
          </p:cNvPr>
          <p:cNvSpPr>
            <a:spLocks noGrp="1"/>
          </p:cNvSpPr>
          <p:nvPr>
            <p:ph type="sldNum" sz="quarter" idx="5"/>
          </p:nvPr>
        </p:nvSpPr>
        <p:spPr/>
        <p:txBody>
          <a:bodyPr/>
          <a:lstStyle/>
          <a:p>
            <a:fld id="{E1D4C8C2-7653-428F-B996-F54ED17CDEDB}" type="slidenum">
              <a:t>9</a:t>
            </a:fld>
            <a:endParaRPr lang="en-US"/>
          </a:p>
        </p:txBody>
      </p:sp>
    </p:spTree>
    <p:extLst>
      <p:ext uri="{BB962C8B-B14F-4D97-AF65-F5344CB8AC3E}">
        <p14:creationId xmlns:p14="http://schemas.microsoft.com/office/powerpoint/2010/main" val="31952139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3/29/2026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73085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431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3/29/2026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557031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dirty="0"/>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3/29/2026</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203984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3/29/2026</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06628390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3/29/2026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3275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3/29/2026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575217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3/29/2026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37004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3/29/2026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54319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3/29/2026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9437368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3/29/2026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403411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endParaRPr lang="en-US" dirty="0"/>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3/29/2026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6732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46939668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4971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07719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88638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9346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5889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4815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81558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881753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1936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78171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773066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7635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695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endParaRPr lang="en-US" dirty="0"/>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3/29/2026</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40144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839580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4421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46285324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6965608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4565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dirty="0"/>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3/29/2026</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03361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3/29/2026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58075274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3/29/2026</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0639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3/29/2026</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7293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3/29/2026</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53202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dirty="0"/>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3/29/2026</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80399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3/29/2026</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49699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3/29/2026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507064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3/29/2026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62212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3/29/2026</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344168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dirty="0"/>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3/29/2026</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60767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3/29/2026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378884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3/29/2026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77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3/29/2026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013984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3/29/2026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1313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3/29/2026</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5494639"/>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3/29/2026</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7760972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3/29/2026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27549529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3/29/2026</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dirty="0"/>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75759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3/29/2026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695223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3/29/2026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210519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3/29/2026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dirty="0"/>
          </a:p>
        </p:txBody>
      </p:sp>
    </p:spTree>
    <p:extLst>
      <p:ext uri="{BB962C8B-B14F-4D97-AF65-F5344CB8AC3E}">
        <p14:creationId xmlns:p14="http://schemas.microsoft.com/office/powerpoint/2010/main" val="657732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1.xml"/><Relationship Id="rId1" Type="http://schemas.openxmlformats.org/officeDocument/2006/relationships/slideLayout" Target="../slideLayouts/slideLayout46.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6.xml"/><Relationship Id="rId6" Type="http://schemas.openxmlformats.org/officeDocument/2006/relationships/image" Target="../media/image12.svg"/><Relationship Id="rId5" Type="http://schemas.openxmlformats.org/officeDocument/2006/relationships/image" Target="../media/image10.pn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6.xml"/><Relationship Id="rId6" Type="http://schemas.openxmlformats.org/officeDocument/2006/relationships/image" Target="../media/image12.svg"/><Relationship Id="rId5" Type="http://schemas.openxmlformats.org/officeDocument/2006/relationships/image" Target="../media/image10.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7.png"/><Relationship Id="rId7"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6.xml"/><Relationship Id="rId6" Type="http://schemas.openxmlformats.org/officeDocument/2006/relationships/image" Target="../media/image12.svg"/><Relationship Id="rId5" Type="http://schemas.openxmlformats.org/officeDocument/2006/relationships/image" Target="../media/image10.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46.xml"/><Relationship Id="rId6" Type="http://schemas.openxmlformats.org/officeDocument/2006/relationships/image" Target="../media/image12.svg"/><Relationship Id="rId5" Type="http://schemas.openxmlformats.org/officeDocument/2006/relationships/image" Target="../media/image10.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46.xml"/><Relationship Id="rId6" Type="http://schemas.openxmlformats.org/officeDocument/2006/relationships/image" Target="../media/image12.svg"/><Relationship Id="rId5" Type="http://schemas.openxmlformats.org/officeDocument/2006/relationships/image" Target="../media/image10.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46.xml"/><Relationship Id="rId6" Type="http://schemas.openxmlformats.org/officeDocument/2006/relationships/image" Target="../media/image12.svg"/><Relationship Id="rId5" Type="http://schemas.openxmlformats.org/officeDocument/2006/relationships/image" Target="../media/image10.pn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6.xml"/><Relationship Id="rId6" Type="http://schemas.openxmlformats.org/officeDocument/2006/relationships/image" Target="../media/image12.svg"/><Relationship Id="rId5" Type="http://schemas.openxmlformats.org/officeDocument/2006/relationships/image" Target="../media/image10.png"/><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64B8FA-0EC1-4533-A609-8686C76CFE52}"/>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Opened brown cream jar on White gypsum cylinder podium display with palm leaves, coffee beans and cinnamon on pastel dark brown background for product presentation. Abstract pedestal. Cosmetics or beauty product promotion trendy minimalist mockup">
            <a:extLst>
              <a:ext uri="{FF2B5EF4-FFF2-40B4-BE49-F238E27FC236}">
                <a16:creationId xmlns:a16="http://schemas.microsoft.com/office/drawing/2014/main" id="{8041606B-7E37-457B-9E87-668F2C5DFEFE}"/>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7B68D999-4FE9-429F-B4F7-35A2046508AE}"/>
              </a:ext>
            </a:extLst>
          </p:cNvPr>
          <p:cNvSpPr txBox="1"/>
          <p:nvPr/>
        </p:nvSpPr>
        <p:spPr>
          <a:xfrm>
            <a:off x="923925" y="1176783"/>
            <a:ext cx="4391025" cy="1226641"/>
          </a:xfrm>
          <a:prstGeom prst="rect">
            <a:avLst/>
          </a:prstGeom>
          <a:noFill/>
        </p:spPr>
        <p:txBody>
          <a:bodyPr wrap="square" rtlCol="0">
            <a:normAutofit fontScale="92500" lnSpcReduction="10000"/>
          </a:bodyPr>
          <a:lstStyle/>
          <a:p>
            <a:pPr marL="0" algn="ctr">
              <a:buNone/>
            </a:pPr>
            <a:r>
              <a:rPr lang="en-US" sz="4200" b="1" dirty="0">
                <a:solidFill>
                  <a:srgbClr val="3B3232"/>
                </a:solidFill>
                <a:latin typeface="Georgia" panose="02040502050405020303" pitchFamily="18" charset="0"/>
              </a:rPr>
              <a:t>Bright Coffee Shop </a:t>
            </a:r>
            <a:r>
              <a:rPr dirty="0">
                <a:effectLst/>
              </a:rPr>
              <a:t> </a:t>
            </a:r>
            <a:endParaRPr lang="en-US" dirty="0"/>
          </a:p>
        </p:txBody>
      </p:sp>
      <p:sp>
        <p:nvSpPr>
          <p:cNvPr id="8" name="TextBox 7">
            <a:extLst>
              <a:ext uri="{FF2B5EF4-FFF2-40B4-BE49-F238E27FC236}">
                <a16:creationId xmlns:a16="http://schemas.microsoft.com/office/drawing/2014/main" id="{C0C2BF50-BDEF-4106-B3A9-0D6BE38184D9}"/>
              </a:ext>
            </a:extLst>
          </p:cNvPr>
          <p:cNvSpPr txBox="1"/>
          <p:nvPr/>
        </p:nvSpPr>
        <p:spPr>
          <a:xfrm>
            <a:off x="1676400" y="5322304"/>
            <a:ext cx="2209799" cy="609600"/>
          </a:xfrm>
          <a:prstGeom prst="rect">
            <a:avLst/>
          </a:prstGeom>
          <a:noFill/>
        </p:spPr>
        <p:txBody>
          <a:bodyPr wrap="square" rtlCol="0">
            <a:normAutofit lnSpcReduction="10000"/>
          </a:bodyPr>
          <a:lstStyle/>
          <a:p>
            <a:pPr marL="0" algn="l">
              <a:buNone/>
            </a:pPr>
            <a:r>
              <a:rPr lang="en-US" sz="1200" b="1" dirty="0">
                <a:effectLst/>
              </a:rPr>
              <a:t>Analytical Report</a:t>
            </a:r>
          </a:p>
          <a:p>
            <a:pPr marL="0" algn="l">
              <a:buNone/>
            </a:pPr>
            <a:endParaRPr lang="en-US" sz="1200" b="1" dirty="0">
              <a:effectLst/>
            </a:endParaRPr>
          </a:p>
          <a:p>
            <a:pPr marL="0" algn="l">
              <a:buNone/>
            </a:pPr>
            <a:r>
              <a:rPr lang="en-US" sz="1200" b="1" dirty="0">
                <a:effectLst/>
              </a:rPr>
              <a:t> 2023-01-01 to 2023-06-30</a:t>
            </a:r>
            <a:r>
              <a:rPr sz="1200" b="1" dirty="0">
                <a:effectLst/>
              </a:rPr>
              <a:t> </a:t>
            </a:r>
            <a:endParaRPr lang="en-US" sz="1200" b="1" dirty="0"/>
          </a:p>
        </p:txBody>
      </p:sp>
      <p:sp>
        <p:nvSpPr>
          <p:cNvPr id="2" name="TextBox 1">
            <a:extLst>
              <a:ext uri="{FF2B5EF4-FFF2-40B4-BE49-F238E27FC236}">
                <a16:creationId xmlns:a16="http://schemas.microsoft.com/office/drawing/2014/main" id="{103CFE8D-0BA0-42EE-AD86-5D763C833F88}"/>
              </a:ext>
            </a:extLst>
          </p:cNvPr>
          <p:cNvSpPr txBox="1"/>
          <p:nvPr/>
        </p:nvSpPr>
        <p:spPr>
          <a:xfrm>
            <a:off x="1104900" y="3505200"/>
            <a:ext cx="3124200" cy="1477328"/>
          </a:xfrm>
          <a:prstGeom prst="rect">
            <a:avLst/>
          </a:prstGeom>
          <a:noFill/>
        </p:spPr>
        <p:txBody>
          <a:bodyPr wrap="square" rtlCol="0">
            <a:spAutoFit/>
          </a:bodyPr>
          <a:lstStyle/>
          <a:p>
            <a:pPr algn="ctr"/>
            <a:r>
              <a:rPr lang="en-US" b="1" dirty="0"/>
              <a:t>Analysis Report for the CEO</a:t>
            </a:r>
          </a:p>
          <a:p>
            <a:pPr algn="ctr"/>
            <a:endParaRPr lang="en-US" b="1" dirty="0"/>
          </a:p>
          <a:p>
            <a:pPr algn="ctr"/>
            <a:r>
              <a:rPr lang="en-US" b="1" dirty="0"/>
              <a:t>Presented by</a:t>
            </a:r>
          </a:p>
          <a:p>
            <a:pPr algn="ctr"/>
            <a:endParaRPr lang="en-US" b="1" dirty="0"/>
          </a:p>
          <a:p>
            <a:pPr algn="ctr"/>
            <a:r>
              <a:rPr lang="en-US" b="1" dirty="0"/>
              <a:t>Kometsi Khotlele</a:t>
            </a:r>
            <a:endParaRPr lang="en-ZA" b="1" dirty="0"/>
          </a:p>
        </p:txBody>
      </p:sp>
      <p:pic>
        <p:nvPicPr>
          <p:cNvPr id="3" name="Content Placeholder 5" descr="Modern, luxury tropical design cafe, wooden counter with espresso machine, cake display fridge in sunlight from outdoor garden on beige brown stucco wall, cement floor. Coffee shop business interior decoration background 3D">
            <a:extLst>
              <a:ext uri="{FF2B5EF4-FFF2-40B4-BE49-F238E27FC236}">
                <a16:creationId xmlns:a16="http://schemas.microsoft.com/office/drawing/2014/main" id="{5B6FF8B0-D532-C21B-B99A-7C6846BAC4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6019800"/>
            <a:ext cx="838200" cy="838200"/>
          </a:xfrm>
          <a:prstGeom prst="rect">
            <a:avLst/>
          </a:prstGeom>
        </p:spPr>
      </p:pic>
      <p:sp>
        <p:nvSpPr>
          <p:cNvPr id="9" name="TextBox 8">
            <a:extLst>
              <a:ext uri="{FF2B5EF4-FFF2-40B4-BE49-F238E27FC236}">
                <a16:creationId xmlns:a16="http://schemas.microsoft.com/office/drawing/2014/main" id="{971C2EB4-90F3-19D1-70DB-FA7EE9749018}"/>
              </a:ext>
            </a:extLst>
          </p:cNvPr>
          <p:cNvSpPr txBox="1"/>
          <p:nvPr/>
        </p:nvSpPr>
        <p:spPr>
          <a:xfrm>
            <a:off x="95249" y="2540217"/>
            <a:ext cx="5372100" cy="584775"/>
          </a:xfrm>
          <a:prstGeom prst="rect">
            <a:avLst/>
          </a:prstGeom>
          <a:noFill/>
        </p:spPr>
        <p:txBody>
          <a:bodyPr wrap="square">
            <a:spAutoFit/>
          </a:bodyPr>
          <a:lstStyle/>
          <a:p>
            <a:r>
              <a:rPr lang="en-US" sz="2800" b="1" i="1" dirty="0"/>
              <a:t>Roadmap to Coffee </a:t>
            </a:r>
            <a:r>
              <a:rPr lang="en-US" sz="3200" b="1" i="1" dirty="0"/>
              <a:t>Sales</a:t>
            </a:r>
            <a:r>
              <a:rPr lang="en-US" sz="2800" b="1" i="1" dirty="0"/>
              <a:t> Insights</a:t>
            </a:r>
          </a:p>
        </p:txBody>
      </p:sp>
    </p:spTree>
    <p:extLst>
      <p:ext uri="{BB962C8B-B14F-4D97-AF65-F5344CB8AC3E}">
        <p14:creationId xmlns:p14="http://schemas.microsoft.com/office/powerpoint/2010/main" val="4132120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70FD71-8E10-40D9-AB6A-7657AD2B608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8467"/>
            <a:ext cx="12192000" cy="6858000"/>
          </a:xfrm>
          <a:prstGeom prst="rect">
            <a:avLst/>
          </a:prstGeom>
        </p:spPr>
      </p:pic>
      <p:sp>
        <p:nvSpPr>
          <p:cNvPr id="4" name="Content Placeholder 3">
            <a:extLst>
              <a:ext uri="{FF2B5EF4-FFF2-40B4-BE49-F238E27FC236}">
                <a16:creationId xmlns:a16="http://schemas.microsoft.com/office/drawing/2014/main" id="{E32413A9-BA91-8B38-6DEA-B596D061BBAC}"/>
              </a:ext>
            </a:extLst>
          </p:cNvPr>
          <p:cNvSpPr>
            <a:spLocks noGrp="1"/>
          </p:cNvSpPr>
          <p:nvPr>
            <p:ph sz="quarter" idx="16"/>
          </p:nvPr>
        </p:nvSpPr>
        <p:spPr>
          <a:xfrm>
            <a:off x="771525" y="771525"/>
            <a:ext cx="9134475" cy="544710"/>
          </a:xfrm>
        </p:spPr>
        <p:txBody>
          <a:bodyPr>
            <a:normAutofit lnSpcReduction="10000"/>
          </a:bodyPr>
          <a:lstStyle/>
          <a:p>
            <a:pPr marL="0" indent="0" algn="l">
              <a:buNone/>
            </a:pPr>
            <a:r>
              <a:rPr lang="en-US" sz="2800" dirty="0"/>
              <a:t>Presentation Outline</a:t>
            </a:r>
          </a:p>
        </p:txBody>
      </p:sp>
      <p:sp>
        <p:nvSpPr>
          <p:cNvPr id="7" name="TextBox 6">
            <a:extLst>
              <a:ext uri="{FF2B5EF4-FFF2-40B4-BE49-F238E27FC236}">
                <a16:creationId xmlns:a16="http://schemas.microsoft.com/office/drawing/2014/main" id="{E3084073-4234-461D-BFB8-F816EDB3DD15}"/>
              </a:ext>
            </a:extLst>
          </p:cNvPr>
          <p:cNvSpPr txBox="1"/>
          <p:nvPr/>
        </p:nvSpPr>
        <p:spPr>
          <a:xfrm>
            <a:off x="304800" y="1524000"/>
            <a:ext cx="9677400" cy="1905000"/>
          </a:xfrm>
          <a:prstGeom prst="rect">
            <a:avLst/>
          </a:prstGeom>
          <a:noFill/>
        </p:spPr>
        <p:txBody>
          <a:bodyPr wrap="square" rtlCol="0">
            <a:noAutofit/>
          </a:bodyPr>
          <a:lstStyle/>
          <a:p>
            <a:pPr marL="742950" lvl="1" indent="-285750">
              <a:lnSpc>
                <a:spcPct val="250000"/>
              </a:lnSpc>
              <a:buFont typeface="Arial" panose="020B0604020202020204" pitchFamily="34" charset="0"/>
              <a:buChar char="•"/>
            </a:pPr>
            <a:r>
              <a:rPr lang="en-US" b="1" dirty="0"/>
              <a:t>Problem Statement </a:t>
            </a:r>
          </a:p>
          <a:p>
            <a:pPr marL="742950" lvl="1" indent="-285750">
              <a:lnSpc>
                <a:spcPct val="250000"/>
              </a:lnSpc>
              <a:buFont typeface="Arial" panose="020B0604020202020204" pitchFamily="34" charset="0"/>
              <a:buChar char="•"/>
            </a:pPr>
            <a:r>
              <a:rPr lang="en-US" b="1" dirty="0"/>
              <a:t>Data Foundations:</a:t>
            </a:r>
            <a:r>
              <a:rPr lang="en-US" dirty="0"/>
              <a:t> SQL Logic &amp; Data Cleaning.</a:t>
            </a:r>
          </a:p>
          <a:p>
            <a:pPr marL="742950" lvl="1" indent="-285750">
              <a:lnSpc>
                <a:spcPct val="250000"/>
              </a:lnSpc>
              <a:buFont typeface="Arial" panose="020B0604020202020204" pitchFamily="34" charset="0"/>
              <a:buChar char="•"/>
            </a:pPr>
            <a:r>
              <a:rPr lang="en-US" b="1" dirty="0"/>
              <a:t>Temporal Trends:</a:t>
            </a:r>
            <a:r>
              <a:rPr lang="en-US" dirty="0"/>
              <a:t> Monthly &amp; Weekly Revenue Cycles.</a:t>
            </a:r>
          </a:p>
          <a:p>
            <a:pPr marL="742950" lvl="1" indent="-285750">
              <a:lnSpc>
                <a:spcPct val="250000"/>
              </a:lnSpc>
              <a:buFont typeface="Arial" panose="020B0604020202020204" pitchFamily="34" charset="0"/>
              <a:buChar char="•"/>
            </a:pPr>
            <a:r>
              <a:rPr lang="en-US" b="1" dirty="0"/>
              <a:t>Customer Behavior:</a:t>
            </a:r>
            <a:r>
              <a:rPr lang="en-US" dirty="0"/>
              <a:t> Peak Hours &amp; Time-of-Day Analysis.</a:t>
            </a:r>
          </a:p>
          <a:p>
            <a:pPr marL="742950" lvl="1" indent="-285750">
              <a:lnSpc>
                <a:spcPct val="250000"/>
              </a:lnSpc>
              <a:buFont typeface="Arial" panose="020B0604020202020204" pitchFamily="34" charset="0"/>
              <a:buChar char="•"/>
            </a:pPr>
            <a:r>
              <a:rPr lang="en-US" b="1" dirty="0"/>
              <a:t>Segmentation:</a:t>
            </a:r>
            <a:r>
              <a:rPr lang="en-US" dirty="0"/>
              <a:t> Spend Levels &amp; Value Distribution.</a:t>
            </a:r>
          </a:p>
          <a:p>
            <a:pPr marL="742950" lvl="1" indent="-285750">
              <a:lnSpc>
                <a:spcPct val="250000"/>
              </a:lnSpc>
              <a:buFont typeface="Arial" panose="020B0604020202020204" pitchFamily="34" charset="0"/>
              <a:buChar char="•"/>
            </a:pPr>
            <a:r>
              <a:rPr lang="en-US" b="1" dirty="0"/>
              <a:t>Product &amp; Place:</a:t>
            </a:r>
            <a:r>
              <a:rPr lang="en-US" dirty="0"/>
              <a:t> Performance by Category and Location.</a:t>
            </a:r>
          </a:p>
          <a:p>
            <a:pPr marL="742950" lvl="1" indent="-285750">
              <a:lnSpc>
                <a:spcPct val="250000"/>
              </a:lnSpc>
              <a:buFont typeface="Arial" panose="020B0604020202020204" pitchFamily="34" charset="0"/>
              <a:buChar char="•"/>
            </a:pPr>
            <a:r>
              <a:rPr lang="en-US" b="1" dirty="0"/>
              <a:t>Strategic Roadmap:</a:t>
            </a:r>
            <a:r>
              <a:rPr lang="en-US" dirty="0"/>
              <a:t> Data-Driven Recommendations</a:t>
            </a:r>
          </a:p>
          <a:p>
            <a:pPr algn="l">
              <a:lnSpc>
                <a:spcPct val="250000"/>
              </a:lnSpc>
            </a:pPr>
            <a:endParaRPr lang="en-US" sz="2000" dirty="0">
              <a:solidFill>
                <a:srgbClr val="3B3232"/>
              </a:solidFill>
              <a:latin typeface="Bierstadt" panose="020B0004020202020204" pitchFamily="34" charset="0"/>
            </a:endParaRPr>
          </a:p>
        </p:txBody>
      </p:sp>
      <p:pic>
        <p:nvPicPr>
          <p:cNvPr id="2" name="Content Placeholder 5" descr="Modern, luxury tropical design cafe, wooden counter with espresso machine, cake display fridge in sunlight from outdoor garden on beige brown stucco wall, cement floor. Coffee shop business interior decoration background 3D">
            <a:extLst>
              <a:ext uri="{FF2B5EF4-FFF2-40B4-BE49-F238E27FC236}">
                <a16:creationId xmlns:a16="http://schemas.microsoft.com/office/drawing/2014/main" id="{11F8E9D2-7D12-A1EE-BDF5-7084E39A23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6019800"/>
            <a:ext cx="838200" cy="838200"/>
          </a:xfrm>
          <a:prstGeom prst="rect">
            <a:avLst/>
          </a:prstGeom>
        </p:spPr>
      </p:pic>
    </p:spTree>
    <p:extLst>
      <p:ext uri="{BB962C8B-B14F-4D97-AF65-F5344CB8AC3E}">
        <p14:creationId xmlns:p14="http://schemas.microsoft.com/office/powerpoint/2010/main" val="619499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00069-D3A2-7090-6D04-8DBF1AE361B0}"/>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2CAB2D2-5ABA-22A5-5780-CE20CDDCA5F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2B4268EE-FB14-12D8-9B7A-AB1DFD6EBA8B}"/>
              </a:ext>
            </a:extLst>
          </p:cNvPr>
          <p:cNvSpPr>
            <a:spLocks noGrp="1"/>
          </p:cNvSpPr>
          <p:nvPr>
            <p:ph sz="quarter" idx="16"/>
          </p:nvPr>
        </p:nvSpPr>
        <p:spPr>
          <a:xfrm>
            <a:off x="771525" y="771525"/>
            <a:ext cx="9134475" cy="544710"/>
          </a:xfrm>
        </p:spPr>
        <p:txBody>
          <a:bodyPr>
            <a:normAutofit lnSpcReduction="10000"/>
          </a:bodyPr>
          <a:lstStyle/>
          <a:p>
            <a:pPr marL="0" indent="0" algn="l">
              <a:buNone/>
            </a:pPr>
            <a:r>
              <a:rPr lang="en-US" sz="2800" dirty="0"/>
              <a:t>Problem Statement</a:t>
            </a:r>
          </a:p>
        </p:txBody>
      </p:sp>
      <p:sp>
        <p:nvSpPr>
          <p:cNvPr id="7" name="TextBox 6">
            <a:extLst>
              <a:ext uri="{FF2B5EF4-FFF2-40B4-BE49-F238E27FC236}">
                <a16:creationId xmlns:a16="http://schemas.microsoft.com/office/drawing/2014/main" id="{113ECED6-796F-6D6F-7734-C4D99AB7AEBC}"/>
              </a:ext>
            </a:extLst>
          </p:cNvPr>
          <p:cNvSpPr txBox="1"/>
          <p:nvPr/>
        </p:nvSpPr>
        <p:spPr>
          <a:xfrm>
            <a:off x="1143000" y="1981201"/>
            <a:ext cx="9677400" cy="1905000"/>
          </a:xfrm>
          <a:prstGeom prst="rect">
            <a:avLst/>
          </a:prstGeom>
          <a:noFill/>
        </p:spPr>
        <p:txBody>
          <a:bodyPr wrap="square" rtlCol="0">
            <a:noAutofit/>
          </a:bodyPr>
          <a:lstStyle/>
          <a:p>
            <a:pPr algn="l">
              <a:lnSpc>
                <a:spcPct val="200000"/>
              </a:lnSpc>
            </a:pPr>
            <a:r>
              <a:rPr lang="en-US" sz="2000" dirty="0">
                <a:solidFill>
                  <a:srgbClr val="3B3232"/>
                </a:solidFill>
                <a:latin typeface="Bierstadt" panose="020B0004020202020204" pitchFamily="34" charset="0"/>
              </a:rPr>
              <a:t>A  newly appointed CEO would like to understand the status of the coffee shop by gaining insight on the following :-	 </a:t>
            </a:r>
            <a:endParaRPr lang="en-US" sz="2000" dirty="0">
              <a:solidFill>
                <a:srgbClr val="3B3232"/>
              </a:solidFill>
              <a:effectLst/>
              <a:latin typeface="Bierstadt" panose="020B0004020202020204" pitchFamily="34" charset="0"/>
            </a:endParaRPr>
          </a:p>
          <a:p>
            <a:pPr marL="1714500" lvl="3" indent="-342900">
              <a:lnSpc>
                <a:spcPct val="250000"/>
              </a:lnSpc>
              <a:buFont typeface="Wingdings" panose="05000000000000000000" pitchFamily="2" charset="2"/>
              <a:buChar char="ü"/>
            </a:pPr>
            <a:r>
              <a:rPr lang="en-US" sz="2000" dirty="0">
                <a:solidFill>
                  <a:srgbClr val="3B3232"/>
                </a:solidFill>
                <a:latin typeface="Bierstadt" panose="020B0004020202020204" pitchFamily="34" charset="0"/>
              </a:rPr>
              <a:t>	Customer spending </a:t>
            </a:r>
            <a:r>
              <a:rPr lang="en-US" sz="2000" dirty="0" err="1">
                <a:solidFill>
                  <a:srgbClr val="3B3232"/>
                </a:solidFill>
                <a:latin typeface="Bierstadt" panose="020B0004020202020204" pitchFamily="34" charset="0"/>
              </a:rPr>
              <a:t>behaviour</a:t>
            </a:r>
            <a:endParaRPr lang="en-US" sz="2000" dirty="0">
              <a:solidFill>
                <a:srgbClr val="3B3232"/>
              </a:solidFill>
              <a:latin typeface="Bierstadt" panose="020B0004020202020204" pitchFamily="34" charset="0"/>
            </a:endParaRPr>
          </a:p>
          <a:p>
            <a:pPr marL="1714500" lvl="3" indent="-342900">
              <a:lnSpc>
                <a:spcPct val="250000"/>
              </a:lnSpc>
              <a:buFont typeface="Wingdings" panose="05000000000000000000" pitchFamily="2" charset="2"/>
              <a:buChar char="ü"/>
            </a:pPr>
            <a:r>
              <a:rPr lang="en-US" sz="2000" dirty="0">
                <a:solidFill>
                  <a:srgbClr val="3B3232"/>
                </a:solidFill>
                <a:latin typeface="Bierstadt" panose="020B0004020202020204" pitchFamily="34" charset="0"/>
              </a:rPr>
              <a:t>Time- lines for revenue cycles</a:t>
            </a:r>
          </a:p>
          <a:p>
            <a:pPr marL="1714500" lvl="3" indent="-342900">
              <a:lnSpc>
                <a:spcPct val="250000"/>
              </a:lnSpc>
              <a:buFont typeface="Wingdings" panose="05000000000000000000" pitchFamily="2" charset="2"/>
              <a:buChar char="ü"/>
            </a:pPr>
            <a:r>
              <a:rPr lang="en-US" sz="2000" dirty="0">
                <a:solidFill>
                  <a:srgbClr val="3B3232"/>
                </a:solidFill>
                <a:latin typeface="Bierstadt" panose="020B0004020202020204" pitchFamily="34" charset="0"/>
              </a:rPr>
              <a:t>Store and product performance </a:t>
            </a:r>
          </a:p>
          <a:p>
            <a:pPr marL="1714500" lvl="3" indent="-342900">
              <a:lnSpc>
                <a:spcPct val="250000"/>
              </a:lnSpc>
              <a:buFont typeface="Wingdings" panose="05000000000000000000" pitchFamily="2" charset="2"/>
              <a:buChar char="ü"/>
            </a:pPr>
            <a:r>
              <a:rPr lang="en-US" sz="2000" dirty="0">
                <a:solidFill>
                  <a:srgbClr val="3B3232"/>
                </a:solidFill>
                <a:latin typeface="Bierstadt" panose="020B0004020202020204" pitchFamily="34" charset="0"/>
              </a:rPr>
              <a:t>Potential data driven decisions</a:t>
            </a:r>
          </a:p>
          <a:p>
            <a:pPr marL="1714500" lvl="3" indent="-342900">
              <a:lnSpc>
                <a:spcPct val="250000"/>
              </a:lnSpc>
              <a:buFont typeface="Wingdings" panose="05000000000000000000" pitchFamily="2" charset="2"/>
              <a:buChar char="ü"/>
            </a:pPr>
            <a:endParaRPr sz="2000" dirty="0">
              <a:effectLst/>
            </a:endParaRPr>
          </a:p>
        </p:txBody>
      </p:sp>
      <p:pic>
        <p:nvPicPr>
          <p:cNvPr id="2" name="Content Placeholder 5" descr="Modern, luxury tropical design cafe, wooden counter with espresso machine, cake display fridge in sunlight from outdoor garden on beige brown stucco wall, cement floor. Coffee shop business interior decoration background 3D">
            <a:extLst>
              <a:ext uri="{FF2B5EF4-FFF2-40B4-BE49-F238E27FC236}">
                <a16:creationId xmlns:a16="http://schemas.microsoft.com/office/drawing/2014/main" id="{5D9DCBC9-24BE-D139-6A16-57352D79F5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6019800"/>
            <a:ext cx="838200" cy="838200"/>
          </a:xfrm>
          <a:prstGeom prst="rect">
            <a:avLst/>
          </a:prstGeom>
        </p:spPr>
      </p:pic>
    </p:spTree>
    <p:extLst>
      <p:ext uri="{BB962C8B-B14F-4D97-AF65-F5344CB8AC3E}">
        <p14:creationId xmlns:p14="http://schemas.microsoft.com/office/powerpoint/2010/main" val="2160985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F63E7-8CF3-6EF4-2D62-4E5F00A03271}"/>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D200717-28FB-B79C-061A-770B6E5DAA5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8467"/>
            <a:ext cx="12192000" cy="6858000"/>
          </a:xfrm>
          <a:prstGeom prst="rect">
            <a:avLst/>
          </a:prstGeom>
        </p:spPr>
      </p:pic>
      <p:sp>
        <p:nvSpPr>
          <p:cNvPr id="4" name="Content Placeholder 3">
            <a:extLst>
              <a:ext uri="{FF2B5EF4-FFF2-40B4-BE49-F238E27FC236}">
                <a16:creationId xmlns:a16="http://schemas.microsoft.com/office/drawing/2014/main" id="{CB2D28F5-C76C-6371-4376-0938C0BDC114}"/>
              </a:ext>
            </a:extLst>
          </p:cNvPr>
          <p:cNvSpPr>
            <a:spLocks noGrp="1"/>
          </p:cNvSpPr>
          <p:nvPr>
            <p:ph sz="quarter" idx="16"/>
          </p:nvPr>
        </p:nvSpPr>
        <p:spPr>
          <a:xfrm>
            <a:off x="771525" y="771525"/>
            <a:ext cx="9134475" cy="544710"/>
          </a:xfrm>
        </p:spPr>
        <p:txBody>
          <a:bodyPr>
            <a:normAutofit fontScale="92500" lnSpcReduction="10000"/>
          </a:bodyPr>
          <a:lstStyle/>
          <a:p>
            <a:pPr marL="0" indent="0">
              <a:buNone/>
            </a:pPr>
            <a:r>
              <a:rPr lang="en-US" sz="2800" b="1" dirty="0"/>
              <a:t>Data Foundations:</a:t>
            </a:r>
            <a:r>
              <a:rPr lang="en-US" sz="2800" dirty="0"/>
              <a:t> SQL Logic &amp; Data Cleaning.</a:t>
            </a:r>
          </a:p>
          <a:p>
            <a:pPr marL="0" indent="0" algn="l">
              <a:buNone/>
            </a:pPr>
            <a:endParaRPr lang="en-US" sz="2800" dirty="0"/>
          </a:p>
        </p:txBody>
      </p:sp>
      <p:sp>
        <p:nvSpPr>
          <p:cNvPr id="7" name="TextBox 6">
            <a:extLst>
              <a:ext uri="{FF2B5EF4-FFF2-40B4-BE49-F238E27FC236}">
                <a16:creationId xmlns:a16="http://schemas.microsoft.com/office/drawing/2014/main" id="{235F7958-2E96-9BE6-1597-5E5614098F72}"/>
              </a:ext>
            </a:extLst>
          </p:cNvPr>
          <p:cNvSpPr txBox="1"/>
          <p:nvPr/>
        </p:nvSpPr>
        <p:spPr>
          <a:xfrm>
            <a:off x="685800" y="1524000"/>
            <a:ext cx="9296400" cy="1905000"/>
          </a:xfrm>
          <a:prstGeom prst="rect">
            <a:avLst/>
          </a:prstGeom>
          <a:noFill/>
        </p:spPr>
        <p:txBody>
          <a:bodyPr wrap="square" rtlCol="0">
            <a:noAutofit/>
          </a:bodyPr>
          <a:lstStyle/>
          <a:p>
            <a:pPr marL="285750" indent="-285750" algn="l">
              <a:lnSpc>
                <a:spcPct val="250000"/>
              </a:lnSpc>
              <a:buFont typeface="Arial" panose="020B0604020202020204" pitchFamily="34" charset="0"/>
              <a:buChar char="•"/>
            </a:pPr>
            <a:r>
              <a:rPr lang="en-US" dirty="0">
                <a:solidFill>
                  <a:srgbClr val="3B3232"/>
                </a:solidFill>
                <a:latin typeface="Bierstadt" panose="020B0004020202020204" pitchFamily="34" charset="0"/>
              </a:rPr>
              <a:t>A sample data of 6 months was received for analysis for the Coffee shop.   There were 9 product categories with three stores.  However, product type and product detail was not accounted for in this presentation.  </a:t>
            </a:r>
          </a:p>
          <a:p>
            <a:pPr marL="285750" indent="-285750" algn="l">
              <a:lnSpc>
                <a:spcPct val="250000"/>
              </a:lnSpc>
              <a:buFont typeface="Arial" panose="020B0604020202020204" pitchFamily="34" charset="0"/>
              <a:buChar char="•"/>
            </a:pPr>
            <a:r>
              <a:rPr lang="en-US" dirty="0">
                <a:solidFill>
                  <a:srgbClr val="3B3232"/>
                </a:solidFill>
                <a:latin typeface="Bierstadt" panose="020B0004020202020204" pitchFamily="34" charset="0"/>
              </a:rPr>
              <a:t>Data was processed through SQL and subsequently aggregated to produce a processed data set that could be </a:t>
            </a:r>
            <a:r>
              <a:rPr lang="en-US" dirty="0" err="1">
                <a:solidFill>
                  <a:srgbClr val="3B3232"/>
                </a:solidFill>
                <a:latin typeface="Bierstadt" panose="020B0004020202020204" pitchFamily="34" charset="0"/>
              </a:rPr>
              <a:t>analysed</a:t>
            </a:r>
            <a:r>
              <a:rPr lang="en-US" dirty="0">
                <a:solidFill>
                  <a:srgbClr val="3B3232"/>
                </a:solidFill>
                <a:latin typeface="Bierstadt" panose="020B0004020202020204" pitchFamily="34" charset="0"/>
              </a:rPr>
              <a:t> in order to draw insights to assist with decision making</a:t>
            </a:r>
          </a:p>
        </p:txBody>
      </p:sp>
      <p:pic>
        <p:nvPicPr>
          <p:cNvPr id="2" name="Content Placeholder 5" descr="Modern, luxury tropical design cafe, wooden counter with espresso machine, cake display fridge in sunlight from outdoor garden on beige brown stucco wall, cement floor. Coffee shop business interior decoration background 3D">
            <a:extLst>
              <a:ext uri="{FF2B5EF4-FFF2-40B4-BE49-F238E27FC236}">
                <a16:creationId xmlns:a16="http://schemas.microsoft.com/office/drawing/2014/main" id="{D7B0D609-718F-6EE6-BF3E-C4C34D5FE95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6019800"/>
            <a:ext cx="838200" cy="838200"/>
          </a:xfrm>
          <a:prstGeom prst="rect">
            <a:avLst/>
          </a:prstGeom>
        </p:spPr>
      </p:pic>
    </p:spTree>
    <p:extLst>
      <p:ext uri="{BB962C8B-B14F-4D97-AF65-F5344CB8AC3E}">
        <p14:creationId xmlns:p14="http://schemas.microsoft.com/office/powerpoint/2010/main" val="146979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B3AE4-AAD8-5E58-6887-8A03A19EE379}"/>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87FC993-B292-7526-997C-78E77B272F8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16933" y="0"/>
            <a:ext cx="12192000" cy="6858000"/>
          </a:xfrm>
          <a:prstGeom prst="rect">
            <a:avLst/>
          </a:prstGeom>
        </p:spPr>
      </p:pic>
      <p:sp>
        <p:nvSpPr>
          <p:cNvPr id="4" name="Content Placeholder 3">
            <a:extLst>
              <a:ext uri="{FF2B5EF4-FFF2-40B4-BE49-F238E27FC236}">
                <a16:creationId xmlns:a16="http://schemas.microsoft.com/office/drawing/2014/main" id="{45D828CC-CFFD-E2B3-36EA-1C821AB11831}"/>
              </a:ext>
            </a:extLst>
          </p:cNvPr>
          <p:cNvSpPr>
            <a:spLocks noGrp="1"/>
          </p:cNvSpPr>
          <p:nvPr>
            <p:ph sz="quarter" idx="16"/>
          </p:nvPr>
        </p:nvSpPr>
        <p:spPr>
          <a:xfrm>
            <a:off x="771525" y="771525"/>
            <a:ext cx="9134475" cy="544710"/>
          </a:xfrm>
        </p:spPr>
        <p:txBody>
          <a:bodyPr>
            <a:normAutofit fontScale="92500" lnSpcReduction="10000"/>
          </a:bodyPr>
          <a:lstStyle/>
          <a:p>
            <a:pPr marL="0" indent="0">
              <a:buNone/>
            </a:pPr>
            <a:r>
              <a:rPr lang="en-US" sz="2800" b="1" dirty="0"/>
              <a:t>Temporal Trends:</a:t>
            </a:r>
            <a:r>
              <a:rPr lang="en-US" sz="2800" dirty="0"/>
              <a:t> Monthly &amp; Weekly Revenue Cycles.</a:t>
            </a:r>
          </a:p>
          <a:p>
            <a:pPr marL="0" indent="0" algn="l">
              <a:buNone/>
            </a:pPr>
            <a:endParaRPr lang="en-US" sz="2800" dirty="0"/>
          </a:p>
        </p:txBody>
      </p:sp>
      <p:sp>
        <p:nvSpPr>
          <p:cNvPr id="7" name="TextBox 6">
            <a:extLst>
              <a:ext uri="{FF2B5EF4-FFF2-40B4-BE49-F238E27FC236}">
                <a16:creationId xmlns:a16="http://schemas.microsoft.com/office/drawing/2014/main" id="{AF047C14-0A19-F996-9249-0A578C2FE4F2}"/>
              </a:ext>
            </a:extLst>
          </p:cNvPr>
          <p:cNvSpPr txBox="1"/>
          <p:nvPr/>
        </p:nvSpPr>
        <p:spPr>
          <a:xfrm>
            <a:off x="871644" y="4970265"/>
            <a:ext cx="10786956" cy="1811534"/>
          </a:xfrm>
          <a:prstGeom prst="rect">
            <a:avLst/>
          </a:prstGeom>
          <a:noFill/>
        </p:spPr>
        <p:txBody>
          <a:bodyPr wrap="square" rtlCol="0">
            <a:noAutofit/>
          </a:bodyPr>
          <a:lstStyle/>
          <a:p>
            <a:pPr algn="l">
              <a:lnSpc>
                <a:spcPct val="150000"/>
              </a:lnSpc>
            </a:pPr>
            <a:r>
              <a:rPr lang="en-US" sz="2000" dirty="0">
                <a:solidFill>
                  <a:srgbClr val="3B3232"/>
                </a:solidFill>
                <a:latin typeface="Bierstadt" panose="020B0004020202020204" pitchFamily="34" charset="0"/>
              </a:rPr>
              <a:t>As, expected weekday raises 72% of the total revenue in the business.  Again, the revenue trend is on the rise and in sync with the times of the year, since the demand for the product is higher in winter months </a:t>
            </a:r>
          </a:p>
        </p:txBody>
      </p:sp>
      <p:pic>
        <p:nvPicPr>
          <p:cNvPr id="2" name="Content Placeholder 5" descr="Modern, luxury tropical design cafe, wooden counter with espresso machine, cake display fridge in sunlight from outdoor garden on beige brown stucco wall, cement floor. Coffee shop business interior decoration background 3D">
            <a:extLst>
              <a:ext uri="{FF2B5EF4-FFF2-40B4-BE49-F238E27FC236}">
                <a16:creationId xmlns:a16="http://schemas.microsoft.com/office/drawing/2014/main" id="{8F86058B-0217-069F-BEA1-60A715BEA04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6019800"/>
            <a:ext cx="838200" cy="838200"/>
          </a:xfrm>
          <a:prstGeom prst="rect">
            <a:avLst/>
          </a:prstGeom>
        </p:spPr>
      </p:pic>
      <p:graphicFrame>
        <p:nvGraphicFramePr>
          <p:cNvPr id="3" name="Chart 2">
            <a:extLst>
              <a:ext uri="{FF2B5EF4-FFF2-40B4-BE49-F238E27FC236}">
                <a16:creationId xmlns:a16="http://schemas.microsoft.com/office/drawing/2014/main" id="{6DC41848-4914-D3C3-AB8C-826D84801D0C}"/>
              </a:ext>
            </a:extLst>
          </p:cNvPr>
          <p:cNvGraphicFramePr>
            <a:graphicFrameLocks/>
          </p:cNvGraphicFramePr>
          <p:nvPr>
            <p:extLst>
              <p:ext uri="{D42A27DB-BD31-4B8C-83A1-F6EECF244321}">
                <p14:modId xmlns:p14="http://schemas.microsoft.com/office/powerpoint/2010/main" val="2092391223"/>
              </p:ext>
            </p:extLst>
          </p:nvPr>
        </p:nvGraphicFramePr>
        <p:xfrm>
          <a:off x="-88476" y="1344929"/>
          <a:ext cx="5341620" cy="315087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 name="Chart 5">
            <a:extLst>
              <a:ext uri="{FF2B5EF4-FFF2-40B4-BE49-F238E27FC236}">
                <a16:creationId xmlns:a16="http://schemas.microsoft.com/office/drawing/2014/main" id="{B7945CA1-CFF2-42BC-2E9F-2E4EE73C65B1}"/>
              </a:ext>
            </a:extLst>
          </p:cNvPr>
          <p:cNvGraphicFramePr>
            <a:graphicFrameLocks/>
          </p:cNvGraphicFramePr>
          <p:nvPr>
            <p:extLst>
              <p:ext uri="{D42A27DB-BD31-4B8C-83A1-F6EECF244321}">
                <p14:modId xmlns:p14="http://schemas.microsoft.com/office/powerpoint/2010/main" val="1758521143"/>
              </p:ext>
            </p:extLst>
          </p:nvPr>
        </p:nvGraphicFramePr>
        <p:xfrm>
          <a:off x="6394027" y="1609725"/>
          <a:ext cx="5387340" cy="306705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715676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EA9C3-77EB-7739-8E99-CA5C9D7DB52B}"/>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E5CB027-65A8-9CE4-641F-64150844AB0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CAF4A92D-CCB0-0CF1-70F3-2E1DB259B6F5}"/>
              </a:ext>
            </a:extLst>
          </p:cNvPr>
          <p:cNvSpPr>
            <a:spLocks noGrp="1"/>
          </p:cNvSpPr>
          <p:nvPr>
            <p:ph sz="quarter" idx="16"/>
          </p:nvPr>
        </p:nvSpPr>
        <p:spPr>
          <a:xfrm>
            <a:off x="771525" y="771525"/>
            <a:ext cx="9134475" cy="544710"/>
          </a:xfrm>
        </p:spPr>
        <p:txBody>
          <a:bodyPr>
            <a:normAutofit lnSpcReduction="10000"/>
          </a:bodyPr>
          <a:lstStyle/>
          <a:p>
            <a:pPr marL="0" indent="0">
              <a:buNone/>
            </a:pPr>
            <a:r>
              <a:rPr lang="en-US" sz="2800" b="1" dirty="0"/>
              <a:t>Customer Behavior:</a:t>
            </a:r>
            <a:r>
              <a:rPr lang="en-US" sz="2800" dirty="0"/>
              <a:t> Peak Hours &amp; Time-of-Day Analysis</a:t>
            </a:r>
          </a:p>
        </p:txBody>
      </p:sp>
      <p:sp>
        <p:nvSpPr>
          <p:cNvPr id="7" name="TextBox 6">
            <a:extLst>
              <a:ext uri="{FF2B5EF4-FFF2-40B4-BE49-F238E27FC236}">
                <a16:creationId xmlns:a16="http://schemas.microsoft.com/office/drawing/2014/main" id="{18A304E4-0DEF-0B8D-8DC6-50F27B352E9F}"/>
              </a:ext>
            </a:extLst>
          </p:cNvPr>
          <p:cNvSpPr txBox="1"/>
          <p:nvPr/>
        </p:nvSpPr>
        <p:spPr>
          <a:xfrm>
            <a:off x="771525" y="1600200"/>
            <a:ext cx="9677400" cy="1905000"/>
          </a:xfrm>
          <a:prstGeom prst="rect">
            <a:avLst/>
          </a:prstGeom>
          <a:noFill/>
        </p:spPr>
        <p:txBody>
          <a:bodyPr wrap="square" rtlCol="0">
            <a:noAutofit/>
          </a:bodyPr>
          <a:lstStyle/>
          <a:p>
            <a:pPr algn="l">
              <a:lnSpc>
                <a:spcPct val="250000"/>
              </a:lnSpc>
            </a:pPr>
            <a:endParaRPr lang="en-US" sz="2000" dirty="0">
              <a:solidFill>
                <a:srgbClr val="3B3232"/>
              </a:solidFill>
              <a:latin typeface="Bierstadt" panose="020B0004020202020204" pitchFamily="34" charset="0"/>
            </a:endParaRPr>
          </a:p>
        </p:txBody>
      </p:sp>
      <p:pic>
        <p:nvPicPr>
          <p:cNvPr id="2" name="Content Placeholder 5" descr="Modern, luxury tropical design cafe, wooden counter with espresso machine, cake display fridge in sunlight from outdoor garden on beige brown stucco wall, cement floor. Coffee shop business interior decoration background 3D">
            <a:extLst>
              <a:ext uri="{FF2B5EF4-FFF2-40B4-BE49-F238E27FC236}">
                <a16:creationId xmlns:a16="http://schemas.microsoft.com/office/drawing/2014/main" id="{CEEECBE6-7184-34E1-D25E-426F653078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6019800"/>
            <a:ext cx="838200" cy="838200"/>
          </a:xfrm>
          <a:prstGeom prst="rect">
            <a:avLst/>
          </a:prstGeom>
        </p:spPr>
      </p:pic>
      <p:graphicFrame>
        <p:nvGraphicFramePr>
          <p:cNvPr id="3" name="Chart 2">
            <a:extLst>
              <a:ext uri="{FF2B5EF4-FFF2-40B4-BE49-F238E27FC236}">
                <a16:creationId xmlns:a16="http://schemas.microsoft.com/office/drawing/2014/main" id="{665D06DE-C802-EF2F-6D52-BC5243731721}"/>
              </a:ext>
            </a:extLst>
          </p:cNvPr>
          <p:cNvGraphicFramePr>
            <a:graphicFrameLocks/>
          </p:cNvGraphicFramePr>
          <p:nvPr>
            <p:extLst>
              <p:ext uri="{D42A27DB-BD31-4B8C-83A1-F6EECF244321}">
                <p14:modId xmlns:p14="http://schemas.microsoft.com/office/powerpoint/2010/main" val="3746529886"/>
              </p:ext>
            </p:extLst>
          </p:nvPr>
        </p:nvGraphicFramePr>
        <p:xfrm>
          <a:off x="1447800" y="2057400"/>
          <a:ext cx="6096000" cy="3505200"/>
        </p:xfrm>
        <a:graphic>
          <a:graphicData uri="http://schemas.openxmlformats.org/drawingml/2006/chart">
            <c:chart xmlns:c="http://schemas.openxmlformats.org/drawingml/2006/chart" xmlns:r="http://schemas.openxmlformats.org/officeDocument/2006/relationships" r:id="rId7"/>
          </a:graphicData>
        </a:graphic>
      </p:graphicFrame>
      <p:sp>
        <p:nvSpPr>
          <p:cNvPr id="6" name="Content Placeholder 3">
            <a:extLst>
              <a:ext uri="{FF2B5EF4-FFF2-40B4-BE49-F238E27FC236}">
                <a16:creationId xmlns:a16="http://schemas.microsoft.com/office/drawing/2014/main" id="{FFAA4501-5971-B586-E8C7-046207B8D41F}"/>
              </a:ext>
            </a:extLst>
          </p:cNvPr>
          <p:cNvSpPr txBox="1">
            <a:spLocks/>
          </p:cNvSpPr>
          <p:nvPr/>
        </p:nvSpPr>
        <p:spPr>
          <a:xfrm>
            <a:off x="8172449" y="1721047"/>
            <a:ext cx="3724275" cy="353675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t>It apparently clear that the MORNINGS are </a:t>
            </a:r>
            <a:r>
              <a:rPr lang="en-US" sz="1800" b="1" dirty="0"/>
              <a:t>MOST PROFITABLE </a:t>
            </a:r>
            <a:r>
              <a:rPr lang="en-US" sz="1600" b="1" dirty="0"/>
              <a:t>followed by AFTERNOONS.</a:t>
            </a:r>
          </a:p>
          <a:p>
            <a:pPr marL="0" indent="0">
              <a:buFont typeface="Arial" panose="020B0604020202020204" pitchFamily="34" charset="0"/>
              <a:buNone/>
            </a:pPr>
            <a:endParaRPr lang="en-US" sz="1600" b="1" dirty="0"/>
          </a:p>
          <a:p>
            <a:pPr marL="0" indent="0">
              <a:buFont typeface="Arial" panose="020B0604020202020204" pitchFamily="34" charset="0"/>
              <a:buNone/>
            </a:pPr>
            <a:r>
              <a:rPr lang="en-US" sz="1600" b="1" dirty="0"/>
              <a:t>The NIGHTTIME is relatively quite and understandably so since the business is closed around that time.</a:t>
            </a:r>
            <a:endParaRPr lang="en-US" sz="1600" dirty="0"/>
          </a:p>
        </p:txBody>
      </p:sp>
    </p:spTree>
    <p:extLst>
      <p:ext uri="{BB962C8B-B14F-4D97-AF65-F5344CB8AC3E}">
        <p14:creationId xmlns:p14="http://schemas.microsoft.com/office/powerpoint/2010/main" val="3092942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BFF44-CFAD-A20D-0510-5B1F144A0FB4}"/>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41131C3-61EE-9558-FD64-A83339BE582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8467"/>
            <a:ext cx="12192000" cy="6858000"/>
          </a:xfrm>
          <a:prstGeom prst="rect">
            <a:avLst/>
          </a:prstGeom>
        </p:spPr>
      </p:pic>
      <p:sp>
        <p:nvSpPr>
          <p:cNvPr id="4" name="Content Placeholder 3">
            <a:extLst>
              <a:ext uri="{FF2B5EF4-FFF2-40B4-BE49-F238E27FC236}">
                <a16:creationId xmlns:a16="http://schemas.microsoft.com/office/drawing/2014/main" id="{CA5A7A70-E05F-2BED-6525-51D65311354E}"/>
              </a:ext>
            </a:extLst>
          </p:cNvPr>
          <p:cNvSpPr>
            <a:spLocks noGrp="1"/>
          </p:cNvSpPr>
          <p:nvPr>
            <p:ph sz="quarter" idx="16"/>
          </p:nvPr>
        </p:nvSpPr>
        <p:spPr>
          <a:xfrm>
            <a:off x="771525" y="771525"/>
            <a:ext cx="9134475" cy="544710"/>
          </a:xfrm>
        </p:spPr>
        <p:txBody>
          <a:bodyPr>
            <a:normAutofit lnSpcReduction="10000"/>
          </a:bodyPr>
          <a:lstStyle/>
          <a:p>
            <a:pPr marL="0" indent="0">
              <a:buNone/>
            </a:pPr>
            <a:r>
              <a:rPr lang="en-US" sz="2800" b="1" dirty="0"/>
              <a:t>Segmentation:</a:t>
            </a:r>
            <a:r>
              <a:rPr lang="en-US" sz="2800" dirty="0"/>
              <a:t> Spend Levels &amp; Value Distribution</a:t>
            </a:r>
          </a:p>
        </p:txBody>
      </p:sp>
      <p:sp>
        <p:nvSpPr>
          <p:cNvPr id="7" name="TextBox 6">
            <a:extLst>
              <a:ext uri="{FF2B5EF4-FFF2-40B4-BE49-F238E27FC236}">
                <a16:creationId xmlns:a16="http://schemas.microsoft.com/office/drawing/2014/main" id="{682FEC47-701D-874B-141F-CAE187173217}"/>
              </a:ext>
            </a:extLst>
          </p:cNvPr>
          <p:cNvSpPr txBox="1"/>
          <p:nvPr/>
        </p:nvSpPr>
        <p:spPr>
          <a:xfrm>
            <a:off x="7848600" y="1927436"/>
            <a:ext cx="3657600" cy="3982297"/>
          </a:xfrm>
          <a:prstGeom prst="rect">
            <a:avLst/>
          </a:prstGeom>
          <a:noFill/>
        </p:spPr>
        <p:txBody>
          <a:bodyPr wrap="square" rtlCol="0">
            <a:noAutofit/>
          </a:bodyPr>
          <a:lstStyle/>
          <a:p>
            <a:pPr lvl="1">
              <a:lnSpc>
                <a:spcPct val="150000"/>
              </a:lnSpc>
            </a:pPr>
            <a:r>
              <a:rPr lang="en-US" sz="1600" dirty="0"/>
              <a:t>The business has a lot of low spenders at a whooping 95%,  This on its own provides a fertile opportunity to increase sales revenue for the company.</a:t>
            </a:r>
          </a:p>
          <a:p>
            <a:pPr algn="l">
              <a:lnSpc>
                <a:spcPct val="150000"/>
              </a:lnSpc>
            </a:pPr>
            <a:endParaRPr lang="en-US" dirty="0">
              <a:solidFill>
                <a:srgbClr val="3B3232"/>
              </a:solidFill>
              <a:latin typeface="Bierstadt" panose="020B0004020202020204" pitchFamily="34" charset="0"/>
            </a:endParaRPr>
          </a:p>
        </p:txBody>
      </p:sp>
      <p:pic>
        <p:nvPicPr>
          <p:cNvPr id="2" name="Content Placeholder 5" descr="Modern, luxury tropical design cafe, wooden counter with espresso machine, cake display fridge in sunlight from outdoor garden on beige brown stucco wall, cement floor. Coffee shop business interior decoration background 3D">
            <a:extLst>
              <a:ext uri="{FF2B5EF4-FFF2-40B4-BE49-F238E27FC236}">
                <a16:creationId xmlns:a16="http://schemas.microsoft.com/office/drawing/2014/main" id="{B2FC2115-EF0C-646C-9D4C-5AEE74E953C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6019800"/>
            <a:ext cx="838200" cy="838200"/>
          </a:xfrm>
          <a:prstGeom prst="rect">
            <a:avLst/>
          </a:prstGeom>
        </p:spPr>
      </p:pic>
      <p:graphicFrame>
        <p:nvGraphicFramePr>
          <p:cNvPr id="3" name="Chart 2">
            <a:extLst>
              <a:ext uri="{FF2B5EF4-FFF2-40B4-BE49-F238E27FC236}">
                <a16:creationId xmlns:a16="http://schemas.microsoft.com/office/drawing/2014/main" id="{36F2C3D1-57D7-5509-190F-C9AD49A7A372}"/>
              </a:ext>
            </a:extLst>
          </p:cNvPr>
          <p:cNvGraphicFramePr>
            <a:graphicFrameLocks/>
          </p:cNvGraphicFramePr>
          <p:nvPr>
            <p:extLst>
              <p:ext uri="{D42A27DB-BD31-4B8C-83A1-F6EECF244321}">
                <p14:modId xmlns:p14="http://schemas.microsoft.com/office/powerpoint/2010/main" val="2533265726"/>
              </p:ext>
            </p:extLst>
          </p:nvPr>
        </p:nvGraphicFramePr>
        <p:xfrm>
          <a:off x="771524" y="1927435"/>
          <a:ext cx="6848476" cy="3982297"/>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710229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A5889-EEEA-50AD-1A17-81D9CD8B56A7}"/>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9366201-149B-892F-7B86-DE04973A322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E5972D78-32D4-84A1-C832-17AEFBB40077}"/>
              </a:ext>
            </a:extLst>
          </p:cNvPr>
          <p:cNvSpPr>
            <a:spLocks noGrp="1"/>
          </p:cNvSpPr>
          <p:nvPr>
            <p:ph sz="quarter" idx="16"/>
          </p:nvPr>
        </p:nvSpPr>
        <p:spPr>
          <a:xfrm>
            <a:off x="771525" y="771525"/>
            <a:ext cx="9134475" cy="544710"/>
          </a:xfrm>
        </p:spPr>
        <p:txBody>
          <a:bodyPr>
            <a:normAutofit lnSpcReduction="10000"/>
          </a:bodyPr>
          <a:lstStyle/>
          <a:p>
            <a:pPr marL="0" indent="0">
              <a:buNone/>
            </a:pPr>
            <a:r>
              <a:rPr lang="en-US" sz="2800" b="1" dirty="0"/>
              <a:t>Product &amp; Place:</a:t>
            </a:r>
            <a:r>
              <a:rPr lang="en-US" sz="2800" dirty="0"/>
              <a:t> Performance by Category and Location</a:t>
            </a:r>
          </a:p>
        </p:txBody>
      </p:sp>
      <p:sp>
        <p:nvSpPr>
          <p:cNvPr id="7" name="TextBox 6">
            <a:extLst>
              <a:ext uri="{FF2B5EF4-FFF2-40B4-BE49-F238E27FC236}">
                <a16:creationId xmlns:a16="http://schemas.microsoft.com/office/drawing/2014/main" id="{8C7E431A-B83B-4F73-1506-1AF25DECA193}"/>
              </a:ext>
            </a:extLst>
          </p:cNvPr>
          <p:cNvSpPr txBox="1"/>
          <p:nvPr/>
        </p:nvSpPr>
        <p:spPr>
          <a:xfrm>
            <a:off x="7061200" y="1676400"/>
            <a:ext cx="4292600" cy="3429000"/>
          </a:xfrm>
          <a:prstGeom prst="rect">
            <a:avLst/>
          </a:prstGeom>
          <a:noFill/>
        </p:spPr>
        <p:txBody>
          <a:bodyPr wrap="square" rtlCol="0">
            <a:noAutofit/>
          </a:bodyPr>
          <a:lstStyle/>
          <a:p>
            <a:pPr lvl="1">
              <a:lnSpc>
                <a:spcPct val="150000"/>
              </a:lnSpc>
            </a:pPr>
            <a:r>
              <a:rPr lang="en-US" dirty="0"/>
              <a:t>There is a balance in the distribution of the product across all the stores.  </a:t>
            </a:r>
          </a:p>
          <a:p>
            <a:pPr lvl="1">
              <a:lnSpc>
                <a:spcPct val="150000"/>
              </a:lnSpc>
            </a:pPr>
            <a:r>
              <a:rPr lang="en-US" dirty="0"/>
              <a:t>The demand for the various products seem balanced since all stores and almost on par with each on every product category</a:t>
            </a:r>
          </a:p>
          <a:p>
            <a:pPr algn="l">
              <a:lnSpc>
                <a:spcPct val="150000"/>
              </a:lnSpc>
            </a:pPr>
            <a:endParaRPr lang="en-US" sz="2000" dirty="0">
              <a:solidFill>
                <a:srgbClr val="3B3232"/>
              </a:solidFill>
              <a:latin typeface="Bierstadt" panose="020B0004020202020204" pitchFamily="34" charset="0"/>
            </a:endParaRPr>
          </a:p>
        </p:txBody>
      </p:sp>
      <p:pic>
        <p:nvPicPr>
          <p:cNvPr id="2" name="Content Placeholder 5" descr="Modern, luxury tropical design cafe, wooden counter with espresso machine, cake display fridge in sunlight from outdoor garden on beige brown stucco wall, cement floor. Coffee shop business interior decoration background 3D">
            <a:extLst>
              <a:ext uri="{FF2B5EF4-FFF2-40B4-BE49-F238E27FC236}">
                <a16:creationId xmlns:a16="http://schemas.microsoft.com/office/drawing/2014/main" id="{1EF654D4-F93E-0FCA-90A9-2895C0FE26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6019800"/>
            <a:ext cx="838200" cy="838200"/>
          </a:xfrm>
          <a:prstGeom prst="rect">
            <a:avLst/>
          </a:prstGeom>
        </p:spPr>
      </p:pic>
      <p:graphicFrame>
        <p:nvGraphicFramePr>
          <p:cNvPr id="3" name="Chart 2">
            <a:extLst>
              <a:ext uri="{FF2B5EF4-FFF2-40B4-BE49-F238E27FC236}">
                <a16:creationId xmlns:a16="http://schemas.microsoft.com/office/drawing/2014/main" id="{284EC9DA-C502-C6B7-9C2B-D48111D1AE7D}"/>
              </a:ext>
            </a:extLst>
          </p:cNvPr>
          <p:cNvGraphicFramePr>
            <a:graphicFrameLocks/>
          </p:cNvGraphicFramePr>
          <p:nvPr>
            <p:extLst>
              <p:ext uri="{D42A27DB-BD31-4B8C-83A1-F6EECF244321}">
                <p14:modId xmlns:p14="http://schemas.microsoft.com/office/powerpoint/2010/main" val="1558455217"/>
              </p:ext>
            </p:extLst>
          </p:nvPr>
        </p:nvGraphicFramePr>
        <p:xfrm>
          <a:off x="533400" y="1515532"/>
          <a:ext cx="6019800" cy="3589868"/>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457089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BB981-51E2-D6E5-5515-1E8F7729B10B}"/>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ECF8B3A-A7CA-8F7C-D451-C69756F3ADF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803BC742-BDFF-D6FD-B1ED-1487676EC189}"/>
              </a:ext>
            </a:extLst>
          </p:cNvPr>
          <p:cNvSpPr>
            <a:spLocks noGrp="1"/>
          </p:cNvSpPr>
          <p:nvPr>
            <p:ph sz="quarter" idx="16"/>
          </p:nvPr>
        </p:nvSpPr>
        <p:spPr>
          <a:xfrm>
            <a:off x="771525" y="771525"/>
            <a:ext cx="9134475" cy="544710"/>
          </a:xfrm>
        </p:spPr>
        <p:txBody>
          <a:bodyPr>
            <a:normAutofit lnSpcReduction="10000"/>
          </a:bodyPr>
          <a:lstStyle/>
          <a:p>
            <a:pPr marL="0" indent="0" algn="l">
              <a:buNone/>
            </a:pPr>
            <a:r>
              <a:rPr lang="en-US" sz="2800" dirty="0"/>
              <a:t>Recommendations </a:t>
            </a:r>
          </a:p>
        </p:txBody>
      </p:sp>
      <p:sp>
        <p:nvSpPr>
          <p:cNvPr id="7" name="TextBox 6">
            <a:extLst>
              <a:ext uri="{FF2B5EF4-FFF2-40B4-BE49-F238E27FC236}">
                <a16:creationId xmlns:a16="http://schemas.microsoft.com/office/drawing/2014/main" id="{F549F5E7-EB6C-9317-9BA1-6D9A81538FA6}"/>
              </a:ext>
            </a:extLst>
          </p:cNvPr>
          <p:cNvSpPr txBox="1"/>
          <p:nvPr/>
        </p:nvSpPr>
        <p:spPr>
          <a:xfrm>
            <a:off x="914399" y="1676400"/>
            <a:ext cx="9534525" cy="1905000"/>
          </a:xfrm>
          <a:prstGeom prst="rect">
            <a:avLst/>
          </a:prstGeom>
          <a:noFill/>
        </p:spPr>
        <p:txBody>
          <a:bodyPr wrap="square" rtlCol="0">
            <a:noAutofit/>
          </a:bodyPr>
          <a:lstStyle/>
          <a:p>
            <a:pPr marL="285750" indent="-285750" algn="l">
              <a:lnSpc>
                <a:spcPct val="200000"/>
              </a:lnSpc>
              <a:buFont typeface="Arial" panose="020B0604020202020204" pitchFamily="34" charset="0"/>
              <a:buChar char="•"/>
            </a:pPr>
            <a:r>
              <a:rPr lang="en-US" dirty="0">
                <a:solidFill>
                  <a:srgbClr val="3B3232"/>
                </a:solidFill>
                <a:latin typeface="Bierstadt" panose="020B0004020202020204" pitchFamily="34" charset="0"/>
              </a:rPr>
              <a:t>An incentive scheme programme must be launched to encourage the low spenders</a:t>
            </a:r>
          </a:p>
          <a:p>
            <a:pPr marL="285750" indent="-285750" algn="l">
              <a:lnSpc>
                <a:spcPct val="200000"/>
              </a:lnSpc>
              <a:buFont typeface="Arial" panose="020B0604020202020204" pitchFamily="34" charset="0"/>
              <a:buChar char="•"/>
            </a:pPr>
            <a:r>
              <a:rPr lang="en-US" dirty="0">
                <a:solidFill>
                  <a:srgbClr val="3B3232"/>
                </a:solidFill>
                <a:effectLst/>
                <a:latin typeface="Bierstadt" panose="020B0004020202020204" pitchFamily="34" charset="0"/>
              </a:rPr>
              <a:t>Best fresh </a:t>
            </a:r>
            <a:r>
              <a:rPr lang="en-US" dirty="0">
                <a:solidFill>
                  <a:srgbClr val="3B3232"/>
                </a:solidFill>
                <a:latin typeface="Bierstadt" panose="020B0004020202020204" pitchFamily="34" charset="0"/>
              </a:rPr>
              <a:t>A grade products should be served in the morning to ensure constant inflow of traffic</a:t>
            </a:r>
          </a:p>
          <a:p>
            <a:pPr marL="285750" indent="-285750" algn="l">
              <a:lnSpc>
                <a:spcPct val="200000"/>
              </a:lnSpc>
              <a:buFont typeface="Arial" panose="020B0604020202020204" pitchFamily="34" charset="0"/>
              <a:buChar char="•"/>
            </a:pPr>
            <a:r>
              <a:rPr lang="en-US" dirty="0">
                <a:solidFill>
                  <a:srgbClr val="3B3232"/>
                </a:solidFill>
                <a:latin typeface="Bierstadt" panose="020B0004020202020204" pitchFamily="34" charset="0"/>
              </a:rPr>
              <a:t>The waitresses MUST be ready with recommending a second product for the afternoon and evening period in order to shift the revenue floor.</a:t>
            </a:r>
          </a:p>
          <a:p>
            <a:pPr algn="l">
              <a:lnSpc>
                <a:spcPct val="200000"/>
              </a:lnSpc>
            </a:pPr>
            <a:endParaRPr dirty="0">
              <a:effectLst/>
            </a:endParaRPr>
          </a:p>
        </p:txBody>
      </p:sp>
      <p:pic>
        <p:nvPicPr>
          <p:cNvPr id="2" name="Content Placeholder 5" descr="Modern, luxury tropical design cafe, wooden counter with espresso machine, cake display fridge in sunlight from outdoor garden on beige brown stucco wall, cement floor. Coffee shop business interior decoration background 3D">
            <a:extLst>
              <a:ext uri="{FF2B5EF4-FFF2-40B4-BE49-F238E27FC236}">
                <a16:creationId xmlns:a16="http://schemas.microsoft.com/office/drawing/2014/main" id="{65D2F0AB-9A15-27C6-08D3-751F6FCF8E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6019800"/>
            <a:ext cx="838200" cy="838200"/>
          </a:xfrm>
          <a:prstGeom prst="rect">
            <a:avLst/>
          </a:prstGeom>
        </p:spPr>
      </p:pic>
    </p:spTree>
    <p:extLst>
      <p:ext uri="{BB962C8B-B14F-4D97-AF65-F5344CB8AC3E}">
        <p14:creationId xmlns:p14="http://schemas.microsoft.com/office/powerpoint/2010/main" val="2213705"/>
      </p:ext>
    </p:extLst>
  </p:cSld>
  <p:clrMapOvr>
    <a:masterClrMapping/>
  </p:clrMapOvr>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251039-0B1C-45AD-BDF3-E784F1E00F4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DDFC564-B38B-4437-B10C-2B4F696FB123}">
  <ds:schemaRefs>
    <ds:schemaRef ds:uri="http://schemas.microsoft.com/sharepoint/v3/contenttype/forms"/>
  </ds:schemaRefs>
</ds:datastoreItem>
</file>

<file path=customXml/itemProps3.xml><?xml version="1.0" encoding="utf-8"?>
<ds:datastoreItem xmlns:ds="http://schemas.openxmlformats.org/officeDocument/2006/customXml" ds:itemID="{2EA6ECCF-1C9D-4352-BA6F-7912216595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4160afe-d2f8-4cbd-b9d1-5135fc7b07d9}" enabled="0" method="" siteId="{44160afe-d2f8-4cbd-b9d1-5135fc7b07d9}" removed="1"/>
</clbl:labelList>
</file>

<file path=docProps/app.xml><?xml version="1.0" encoding="utf-8"?>
<Properties xmlns="http://schemas.openxmlformats.org/officeDocument/2006/extended-properties" xmlns:vt="http://schemas.openxmlformats.org/officeDocument/2006/docPropsVTypes">
  <Template>Lines</Template>
  <TotalTime>136</TotalTime>
  <Words>3136</Words>
  <Application>Microsoft Office PowerPoint</Application>
  <PresentationFormat>Widescreen</PresentationFormat>
  <Paragraphs>66</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Arial Nova Light</vt:lpstr>
      <vt:lpstr>Bierstadt</vt:lpstr>
      <vt:lpstr>Calibri</vt:lpstr>
      <vt:lpstr>Georgia</vt:lpstr>
      <vt:lpstr>Univers Condensed</vt:lpstr>
      <vt:lpstr>Wingdings</vt:lpstr>
      <vt:lpstr>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Kometsi Khotlele</dc:creator>
  <cp:lastModifiedBy>Kometsi Khotlele</cp:lastModifiedBy>
  <cp:revision>2</cp:revision>
  <dcterms:created xsi:type="dcterms:W3CDTF">2025-08-04T19:15:43Z</dcterms:created>
  <dcterms:modified xsi:type="dcterms:W3CDTF">2026-03-29T16:45:15Z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